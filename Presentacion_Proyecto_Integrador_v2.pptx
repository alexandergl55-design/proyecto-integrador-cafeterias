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6" r:id="rId17"/>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4953F72-D124-7EA6-A733-F09179781076}">
          <p14:sldIdLst>
            <p14:sldId id="256"/>
          </p14:sldIdLst>
        </p14:section>
        <p14:section name="Problema" id="{27111392-D1AF-1D6E-43C3-AD6C01D87FFB}">
          <p14:sldIdLst>
            <p14:sldId id="257"/>
          </p14:sldIdLst>
        </p14:section>
        <p14:section name="Arquitectura" id="{BB356704-8DD8-2F60-DE08-8009CF649733}">
          <p14:sldIdLst>
            <p14:sldId id="258"/>
          </p14:sldIdLst>
        </p14:section>
        <p14:section name="Demostración" id="{83530113-8FBE-86FA-2887-5A288C60603F}">
          <p14:sldIdLst>
            <p14:sldId id="259"/>
          </p14:sldIdLst>
        </p14:section>
        <p14:section name="Decisiones" id="{F6454B15-76B0-BEEF-09B3-53476F8D2BD8}">
          <p14:sldIdLst>
            <p14:sldId id="260"/>
          </p14:sldIdLst>
        </p14:section>
        <p14:section name="Orquestación" id="{D229370D-D881-789E-3A14-CC592635E709}">
          <p14:sldIdLst>
            <p14:sldId id="261"/>
          </p14:sldIdLst>
        </p14:section>
        <p14:section name="Valor" id="{6D7BEAB5-9D1D-0A6C-C4AA-7D993FDFFE11}">
          <p14:sldIdLst>
            <p14:sldId id="262"/>
          </p14:sldIdLst>
        </p14:section>
        <p14:section name="FinOps" id="{253B76FE-F433-776E-EA75-DA038E13B8F4}">
          <p14:sldIdLst>
            <p14:sldId id="263"/>
          </p14:sldIdLst>
        </p14:section>
        <p14:section name="Límites" id="{0FA91B00-670E-769F-5214-C435431FC008}">
          <p14:sldIdLst>
            <p14:sldId id="264"/>
          </p14:sldIdLst>
        </p14:section>
        <p14:section name="Cierre" id="{1079753B-8518-C277-4BCA-F3EF35F51D9D}">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4A5A78"/>
                </a:solidFill>
                <a:latin typeface="+mn-lt"/>
              </a:defRPr>
            </a:pPr>
            <a:r>
              <a:rPr lang="es-MX" sz="1200" b="0" i="0" u="none" strike="noStrike">
                <a:solidFill>
                  <a:srgbClr val="4A5A78"/>
                </a:solidFill>
                <a:latin typeface="+mn-lt"/>
              </a:rPr>
              <a:t>Costo mensual estimado · operación continua, us-east-1</a:t>
            </a:r>
          </a:p>
        </c:rich>
      </c:tx>
      <c:overlay val="0"/>
    </c:title>
    <c:autoTitleDeleted val="0"/>
    <c:plotArea>
      <c:layout/>
      <c:barChart>
        <c:barDir val="bar"/>
        <c:grouping val="clustered"/>
        <c:varyColors val="0"/>
        <c:ser>
          <c:idx val="0"/>
          <c:order val="0"/>
          <c:tx>
            <c:strRef>
              <c:f>Sheet1!$B$1</c:f>
              <c:strCache>
                <c:ptCount val="1"/>
                <c:pt idx="0">
                  <c:v>USD / mes</c:v>
                </c:pt>
              </c:strCache>
            </c:strRef>
          </c:tx>
          <c:spPr>
            <a:solidFill>
              <a:srgbClr val="2D3C6E"/>
            </a:solidFill>
            <a:effectLst/>
          </c:spPr>
          <c:invertIfNegative val="0"/>
          <c:dLbls>
            <c:numFmt formatCode="0.00" sourceLinked="0"/>
            <c:spPr>
              <a:noFill/>
              <a:ln>
                <a:noFill/>
              </a:ln>
              <a:effectLst/>
            </c:spPr>
            <c:txPr>
              <a:bodyPr/>
              <a:lstStyle/>
              <a:p>
                <a:pPr>
                  <a:defRPr sz="1000" b="0" i="0" u="none" strike="noStrike">
                    <a:solidFill>
                      <a:srgbClr val="4A5A78"/>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S3</c:v>
                </c:pt>
                <c:pt idx="1">
                  <c:v>Lambda</c:v>
                </c:pt>
                <c:pt idx="2">
                  <c:v>EBS de la EC2</c:v>
                </c:pt>
                <c:pt idx="3">
                  <c:v>Almacenamiento RDS</c:v>
                </c:pt>
                <c:pt idx="4">
                  <c:v>RDS db.t3.micro</c:v>
                </c:pt>
                <c:pt idx="5">
                  <c:v>EC2 t3.medium</c:v>
                </c:pt>
              </c:strCache>
            </c:strRef>
          </c:cat>
          <c:val>
            <c:numRef>
              <c:f>Sheet1!$B$2:$B$7</c:f>
              <c:numCache>
                <c:formatCode>General</c:formatCode>
                <c:ptCount val="6"/>
                <c:pt idx="0">
                  <c:v>0</c:v>
                </c:pt>
                <c:pt idx="1">
                  <c:v>0</c:v>
                </c:pt>
                <c:pt idx="2">
                  <c:v>1.6</c:v>
                </c:pt>
                <c:pt idx="3">
                  <c:v>2.2999999999999998</c:v>
                </c:pt>
                <c:pt idx="4">
                  <c:v>13.14</c:v>
                </c:pt>
                <c:pt idx="5">
                  <c:v>30.37</c:v>
                </c:pt>
              </c:numCache>
            </c:numRef>
          </c:val>
          <c:extLst>
            <c:ext xmlns:c16="http://schemas.microsoft.com/office/drawing/2014/chart" uri="{C3380CC4-5D6E-409C-BE32-E72D297353CC}">
              <c16:uniqueId val="{00000000-47A4-401E-A7E4-2ACFAF0848B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A78"/>
                </a:solidFill>
                <a:latin typeface="+mn-lt"/>
              </a:defRPr>
            </a:pPr>
            <a:endParaRPr lang="es-CO"/>
          </a:p>
        </c:txPr>
        <c:crossAx val="2094734552"/>
        <c:crosses val="autoZero"/>
        <c:auto val="1"/>
        <c:lblAlgn val="ctr"/>
        <c:lblOffset val="100"/>
        <c:noMultiLvlLbl val="1"/>
      </c:catAx>
      <c:valAx>
        <c:axId val="2094734552"/>
        <c:scaling>
          <c:orientation val="minMax"/>
          <c:max val="34"/>
          <c:min val="0"/>
        </c:scaling>
        <c:delete val="0"/>
        <c:axPos val="b"/>
        <c:majorGridlines>
          <c:spPr>
            <a:ln w="12700" cap="flat">
              <a:solidFill>
                <a:srgbClr val="E3EA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97AC"/>
                </a:solidFill>
                <a:latin typeface="+mn-lt"/>
              </a:defRPr>
            </a:pPr>
            <a:endParaRPr lang="es-CO"/>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678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[00:00 - 00:20]
Buenos días. Les presentamos el proyecto integrador del curso Herramientas de Computación en la Nube.
Construimos un pipeline de datos completo sobre AWS que convierte una consulta a una API pública en un tablero de decisión comercial. El caso: las 46 cafeterías de la localidad de Teusaquillo, en Bogotá.
En los próximos minutos vamos a mostrar el pipeline funcionando de extremo a extremo, explicar por qué elegimos cada tecnología, qué decisiones de negocio habilita, y cuánto cuesta.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[00:20 - 00:50]
La pregunta de negocio es de localización comercial: dónde abrir una cafetería en Teusaquillo.
Partimos de 46 establecimientos extraídos de Foursquare y validados geográficamente contra el polígono oficial de la localidad. Sobre ellos construimos una cuadrícula de 64 celdas de unos 500 metros.
Dos cifras adelantan el hallazgo: tres cadenas controlan casi el 35 % del mercado, y el 62,5 % de las celdas no tiene ninguna oferta.
La diferencia frente a un estudio en Excel es la continuidad: como la ingesta es idempotente y el tablero consulta la base en vivo, esto no es una foto, es seguimiento.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[00:50 - 01:20]
Esta es la arquitectura completa. Cada etapa corresponde a una actividad del semestre, y en cada una elegimos deliberadamente un modelo de servicio distinto según la naturaleza del trabajo.
Almacenamiento gestionado para el dato crudo en S3. Cómputo sin servidor con Lambda para la transformación. Base administrada, RDS PostgreSQL, para el dato estructurado. E infraestructura como servicio con orquestación de contenedores para la visualización.
Abajo están los controles transversales: identidad con rol de IAM en lugar de llaves estáticas, red con grupos de seguridad, mínimo privilegio, gestión de secretos y gobernanza FinOps.
Ahora veámoslo funcionando.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[01:20 - 03:20]  EVIDENCIA DEL PIPELINE (sin salir de la presentación)</a:t>
            </a:r>
          </a:p>
          <a:p/>
          <a:p>
            <a:r>
              <a:t>Señalar cada captura con el cursor en el orden de los números.</a:t>
            </a:r>
          </a:p>
          <a:p/>
          <a:p>
            <a:r>
              <a:t>1. S3: el CSV original en raw-zone/cafeterias, inmutable.</a:t>
            </a:r>
          </a:p>
          <a:p>
            <a:r>
              <a:t>2. Lambda: 46 leídos, 46 transformados, 46 en RDS; 271,97 ms en caliente, 102 de 256 MB.</a:t>
            </a:r>
          </a:p>
          <a:p>
            <a:r>
              <a:t>3. RDS: COUNT(*) = 46 y COUNT(DISTINCT fsq_place_id) = 46: la carga es idempotente.</a:t>
            </a:r>
          </a:p>
          <a:p>
            <a:r>
              <a:t>4. Dashboard servido por el NodePort 30000 del clúster, consultando RDS en vivo.</a:t>
            </a:r>
          </a:p>
          <a:p>
            <a:r>
              <a:t>5. kubectl y helm3: nodo Ready, pod Running, Service NodePort, release de Helm, dos Secrets y el ConfigMap.</a:t>
            </a:r>
          </a:p>
          <a:p/>
          <a:p>
            <a:r>
              <a:t>Cierre: Grafana no es un contenedor suelto, es un release de Helm sobre Kubernetes.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[03:20 - 04:05]
Cuatro decisiones, cada una con la alternativa que descartamos.
Lambda en lugar de un script con cron en EC2: la carga dura 272 milisegundos al día. Pagar una instancia encendida todo el mes por eso es desproporcionado, y en la capa gratuita de Lambda cuesta cero.
PostgreSQL en lugar de DynamoDB: las consultas del tablero son analíticas, con agregaciones y funciones de ventana. Un motor relacional las resuelve en SQL.
JSONB en lugar de una tabla puente: el 19,6 % de los locales tiene varias categorías, la taxonomía viene de Foursquare y no controlamos su integridad. JSONB con índice GIN nos ahorra dos tablas y un JOIN.
Y el usuario grafana_reader con solo permisos de lectura, en vez del administrador de la base. Mínimo privilegio donde cuesta poco aplicarlo.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[04:05 - 04:50]
El enunciado pedía orquestar con MicroK8s y Helm. Conviene precisar qué se orquesta y qué no, porque define el alcance real.
Lambda y RDS son servicios administrados de AWS: no se meten dentro de un clúster de Kubernetes. Lo que se orquesta es la capa de visualización.
El cambio frente a la Actividad 5 es sustantivo. Antes Grafana era un contenedor lanzado a mano con docker run, con las credenciales como variables de entorno en texto plano. Ahora es un release de Helm con su Deployment, su Service de tipo NodePort, dos Secrets y un ConfigMap. Las credenciales se inyectan al pod por referencia a un Secret, y el tablero de nueve paneles se monta desde el ConfigMap, así que el pod no guarda estado y puede recrearse sin pérdida.
Elegimos MicroK8s y no EKS por una razón económica: el plano de control gestionado cuesta 73 dólares al mes, más que todo el pipeline. MicroK8s corre dentro de la misma instancia.
Y hay que ser honestos con el límite: con un solo nodo, Kubernetes reinicia el pod si el proceso falla, pero no protege frente a la caída de la instancia. Lo que ganamos aquí es reproducibilidad, no disponibilidad.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[04:50 - 05:35]
El tablero convierte un listado de 46 locales en un mapa de competencia.
La oferta resultó muy concentrada: cinco celdas reúnen 22 establecimientos, casi la mitad del total, mientras 40 de las 64 celdas no tienen ninguno. La distancia mediana al punto de consulta es de 1.329 metros, y casi uno de cada cinco locales opera un formato híbrido, con la panadería como combinación dominante.
Eso habilita cuatro decisiones concretas: dónde abrir sin enfrentar saturación; qué corredores evitar porque Juan Valdez, Oma o Tostao' ya capturaron la demanda; con qué formato diferenciarse donde la competencia es directa; y cómo leer el poder de negociación de esas cadenas.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[05:35 - 06:10]
El análisis FinOps, con precios de lista de us-east-1 y el supuesto de operación continua: 47,41 dólares al mes.
Tres lecturas.
Primera: el cómputo concentra el 91,8 % del gasto. Las dos instancias suman 43,51 de los 47,41 dólares. Todo lo demás es marginal. El salto frente a nuestra estimación anterior, de 31,26 dólares, viene de la instancia: MicroK8s exige una t3.medium, que cuesta el doble que la t3.small que usábamos con Docker.
Segunda: la capa serverless es efectivamente gratuita. El mismo trabajo de transformación sobre una instancia encendida habría costado unos 15 dólares al mes. Ese contraste es el argumento económico central del proyecto.
Tercera: el gasto es casi enteramente controlable por el ciclo de vida. Apagar los recursos fuera de uso baja el costo de la instancia de 32 a 12,58 dólares, y no requiere rediseñar nada.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[06:10 - 06:50]
Terminamos con lo que el proyecto no resuelve, que es tan importante como lo que sí.
La base opera en Single-AZ y sin copias de seguridad automáticas, así que no tenemos objetivos de recuperación definidos. El clúster tiene un solo nodo, de modo que la caída de la instancia deja el tablero inaccesible pese a la orquestación. Los Secrets de Kubernetes codifican en base64, pero no cifran en reposo mientras no se habilite el cifrado de etcd. La Lambda captura sus excepciones pero no las relanza, así que los reintentos automáticos no se activan. Y tenemos 46 registros de una sola extracción, sin histórico.
La ruta de evolución está ordenada por retorno. Las dos primeras medidas reducen el gasto sin afectar la función; las siguientes compran disponibilidad o seguridad a un costo creciente.
En el estado actual del proyecto, solo las dos primeras tienen justificación inmediata.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[06:50 - 07:00]
Para cerrar: el proyecto demuestra que un pipeline de datos funcional no exige una arquitectura costosa.
Las decisiones que más impacto tuvieron no fueron las de mayor sofisticación técnica, sino las de ajuste al problema. Cómputo sin servidor para una carga de segundos. JSONB en lugar de tablas adicionales. Permisos de solo lectura para la visualización. Y orquestación sobre la propia instancia en lugar de contratar un plano de control gestionado que a este volumen no compra nada.
De la API pública al tablero de decisión por menos de 48 dólares mensuales, y prácticamente nada si se apaga el cómputo.
Y por gobernanza FinOps, al cerrar la sesión terminamos la instancia EC2 y eliminamos la base de datos. La evidencia está en el informe.
Gracias.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rgbClr val="1B2A4E"/>
        </a:solidFill>
        <a:effectLst/>
      </p:bgPr>
    </p:bg>
    <p:spTree>
      <p:nvGrpSpPr>
        <p:cNvPr id="1" name=""/>
        <p:cNvGrpSpPr/>
        <p:nvPr/>
      </p:nvGrpSpPr>
      <p:grpSpPr>
        <a:xfrm>
          <a:off x="0" y="0"/>
          <a:ext cx="0" cy="0"/>
          <a:chOff x="0" y="0"/>
          <a:chExt cx="0" cy="0"/>
        </a:xfrm>
      </p:grpSpPr>
      <p:pic>
        <p:nvPicPr>
          <p:cNvPr id="2" name="Image 0" descr="/home/claude/final/ppt/logo_blanco.png"/>
          <p:cNvPicPr>
            <a:picLocks noChangeAspect="1"/>
          </p:cNvPicPr>
          <p:nvPr/>
        </p:nvPicPr>
        <p:blipFill>
          <a:blip r:embed="rId2"/>
          <a:stretch>
            <a:fillRect/>
          </a:stretch>
        </p:blipFill>
        <p:spPr>
          <a:xfrm>
            <a:off x="10104120" y="6035040"/>
            <a:ext cx="1417320" cy="5404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94360" y="365760"/>
            <a:ext cx="10881360" cy="713232"/>
          </a:xfrm>
          <a:prstGeom prst="rect">
            <a:avLst/>
          </a:prstGeom>
          <a:noFill/>
          <a:ln/>
        </p:spPr>
        <p:txBody>
          <a:bodyPr wrap="square" lIns="0" tIns="0" rIns="0" bIns="0" rtlCol="0" anchor="ctr"/>
          <a:lstStyle/>
          <a:p>
            <a:pPr marL="0" indent="0">
              <a:buNone/>
            </a:pPr>
            <a:endParaRPr lang="en-US" sz="2900" dirty="0"/>
          </a:p>
        </p:txBody>
      </p:sp>
      <p:sp>
        <p:nvSpPr>
          <p:cNvPr id="3" name="Text 1"/>
          <p:cNvSpPr txBox="1"/>
          <p:nvPr/>
        </p:nvSpPr>
        <p:spPr>
          <a:xfrm>
            <a:off x="594360" y="6355080"/>
            <a:ext cx="6858000" cy="274320"/>
          </a:xfrm>
          <a:prstGeom prst="rect">
            <a:avLst/>
          </a:prstGeom>
          <a:noFill/>
          <a:ln/>
        </p:spPr>
        <p:txBody>
          <a:bodyPr wrap="square" lIns="0" tIns="0" rIns="0" bIns="0" rtlCol="0" anchor="ctr"/>
          <a:lstStyle/>
          <a:p>
            <a:pPr marL="0" indent="0">
              <a:buNone/>
            </a:pPr>
            <a:r>
              <a:rPr lang="en-US" sz="900" dirty="0">
                <a:solidFill>
                  <a:srgbClr val="8A97AC"/>
                </a:solidFill>
              </a:rPr>
              <a:t>Proyecto Integrador · Herramientas de Computación en la Nube</a:t>
            </a:r>
            <a:endParaRPr lang="en-US" sz="900" dirty="0"/>
          </a:p>
        </p:txBody>
      </p:sp>
      <p:pic>
        <p:nvPicPr>
          <p:cNvPr id="4" name="Image 0" descr="/home/claude/final/ppt/logo_transparente.png"/>
          <p:cNvPicPr>
            <a:picLocks noChangeAspect="1"/>
          </p:cNvPicPr>
          <p:nvPr/>
        </p:nvPicPr>
        <p:blipFill>
          <a:blip r:embed="rId2"/>
          <a:stretch>
            <a:fillRect/>
          </a:stretch>
        </p:blipFill>
        <p:spPr>
          <a:xfrm>
            <a:off x="10104120" y="6035040"/>
            <a:ext cx="1417320" cy="540410"/>
          </a:xfrm>
          <a:prstGeom prst="rect">
            <a:avLst/>
          </a:prstGeom>
        </p:spPr>
      </p:pic>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7" name="subtitulo-portada"/>
          <p:cNvSpPr txBox="1"/>
          <p:nvPr/>
        </p:nvSpPr>
        <p:spPr>
          <a:xfrm>
            <a:off x="755582" y="856648"/>
            <a:ext cx="9148813" cy="4754879"/>
          </a:xfrm>
          <a:prstGeom prst="rect">
            <a:avLst/>
          </a:prstGeom>
          <a:noFill/>
          <a:ln/>
        </p:spPr>
        <p:txBody>
          <a:bodyPr wrap="square" lIns="0" tIns="0" rIns="0" bIns="0" rtlCol="0" anchor="ctr"/>
          <a:lstStyle/>
          <a:p>
            <a:pPr marL="0" indent="0">
              <a:buNone/>
            </a:pPr>
            <a:endParaRPr lang="en-US" sz="3200" dirty="0">
              <a:solidFill>
                <a:srgbClr val="C3D2E8"/>
              </a:solidFill>
            </a:endParaRPr>
          </a:p>
          <a:p>
            <a:pPr marL="0" indent="0">
              <a:buNone/>
            </a:pPr>
            <a:endParaRPr lang="en-US" sz="3200" dirty="0">
              <a:solidFill>
                <a:srgbClr val="C3D2E8"/>
              </a:solidFill>
            </a:endParaRPr>
          </a:p>
          <a:p>
            <a:pPr marL="0" indent="0">
              <a:buNone/>
            </a:pPr>
            <a:endParaRPr lang="en-US" sz="3200" dirty="0">
              <a:solidFill>
                <a:srgbClr val="C3D2E8"/>
              </a:solidFill>
            </a:endParaRPr>
          </a:p>
          <a:p>
            <a:pPr marL="0" indent="0">
              <a:buNone/>
            </a:pPr>
            <a:endParaRPr lang="en-US" sz="3200" dirty="0">
              <a:solidFill>
                <a:srgbClr val="C3D2E8"/>
              </a:solidFill>
            </a:endParaRPr>
          </a:p>
          <a:p>
            <a:pPr marL="0" indent="0">
              <a:buNone/>
            </a:pPr>
            <a:r>
              <a:rPr lang="en-US" sz="3200" dirty="0">
                <a:solidFill>
                  <a:srgbClr val="C3D2E8"/>
                </a:solidFill>
              </a:rPr>
              <a:t>Pipeline de datos en la nube sobre AWS · Cafeterías de Teusaquillo, Bogotá</a:t>
            </a:r>
          </a:p>
          <a:p>
            <a:pPr marL="0" indent="0">
              <a:buNone/>
            </a:pPr>
            <a:endParaRPr lang="en-US" sz="3200" dirty="0">
              <a:solidFill>
                <a:srgbClr val="C3D2E8"/>
              </a:solidFill>
            </a:endParaRPr>
          </a:p>
          <a:p>
            <a:pPr marL="0" indent="0">
              <a:buNone/>
            </a:pPr>
            <a:endParaRPr lang="en-US" sz="3200" dirty="0">
              <a:solidFill>
                <a:srgbClr val="C3D2E8"/>
              </a:solidFill>
            </a:endParaRPr>
          </a:p>
          <a:p>
            <a:pPr marL="0" indent="0">
              <a:buNone/>
            </a:pPr>
            <a:endParaRPr lang="en-US" sz="2400" dirty="0">
              <a:solidFill>
                <a:srgbClr val="C3D2E8"/>
              </a:solidFill>
            </a:endParaRPr>
          </a:p>
          <a:p>
            <a:pPr marL="0" indent="0">
              <a:buNone/>
            </a:pPr>
            <a:r>
              <a:rPr lang="en-US" sz="2400" dirty="0">
                <a:solidFill>
                  <a:srgbClr val="C3D2E8"/>
                </a:solidFill>
              </a:rPr>
              <a:t>Proyecto final </a:t>
            </a:r>
            <a:r>
              <a:rPr lang="en-US" sz="2400" dirty="0" err="1">
                <a:solidFill>
                  <a:srgbClr val="C3D2E8"/>
                </a:solidFill>
              </a:rPr>
              <a:t>Herramientas</a:t>
            </a:r>
            <a:r>
              <a:rPr lang="en-US" sz="2400" dirty="0">
                <a:solidFill>
                  <a:srgbClr val="C3D2E8"/>
                </a:solidFill>
              </a:rPr>
              <a:t> de la </a:t>
            </a:r>
            <a:r>
              <a:rPr lang="en-US" sz="2400" dirty="0" err="1">
                <a:solidFill>
                  <a:srgbClr val="C3D2E8"/>
                </a:solidFill>
              </a:rPr>
              <a:t>nube</a:t>
            </a:r>
            <a:r>
              <a:rPr lang="en-US" sz="2400" dirty="0">
                <a:solidFill>
                  <a:srgbClr val="C3D2E8"/>
                </a:solidFill>
              </a:rPr>
              <a:t> – </a:t>
            </a:r>
            <a:r>
              <a:rPr lang="en-US" sz="2400" dirty="0" err="1">
                <a:solidFill>
                  <a:srgbClr val="C3D2E8"/>
                </a:solidFill>
              </a:rPr>
              <a:t>Maestria</a:t>
            </a:r>
            <a:r>
              <a:rPr lang="en-US" sz="2400" dirty="0">
                <a:solidFill>
                  <a:srgbClr val="C3D2E8"/>
                </a:solidFill>
              </a:rPr>
              <a:t> </a:t>
            </a:r>
            <a:r>
              <a:rPr lang="en-US" sz="2400" dirty="0" err="1">
                <a:solidFill>
                  <a:srgbClr val="C3D2E8"/>
                </a:solidFill>
              </a:rPr>
              <a:t>analitica</a:t>
            </a:r>
            <a:r>
              <a:rPr lang="en-US" sz="2400" dirty="0">
                <a:solidFill>
                  <a:srgbClr val="C3D2E8"/>
                </a:solidFill>
              </a:rPr>
              <a:t> </a:t>
            </a:r>
            <a:r>
              <a:rPr lang="en-US" sz="2400" dirty="0" err="1">
                <a:solidFill>
                  <a:srgbClr val="C3D2E8"/>
                </a:solidFill>
              </a:rPr>
              <a:t>aplicada</a:t>
            </a:r>
            <a:endParaRPr lang="en-US" sz="2400" dirty="0">
              <a:solidFill>
                <a:srgbClr val="C3D2E8"/>
              </a:solidFill>
            </a:endParaRPr>
          </a:p>
          <a:p>
            <a:pPr marL="0" indent="0">
              <a:buNone/>
            </a:pPr>
            <a:endParaRPr lang="en-US" sz="2400" dirty="0"/>
          </a:p>
          <a:p>
            <a:pPr marL="0" indent="0">
              <a:buNone/>
            </a:pPr>
            <a:r>
              <a:rPr lang="en-US" sz="900" dirty="0">
                <a:solidFill>
                  <a:srgbClr val="000000"/>
                </a:solidFill>
              </a:rPr>
              <a:t> </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hasCustomPrompt="1"/>
          </p:nvPr>
        </p:nvSpPr>
        <p:spPr>
          <a:xfrm>
            <a:off x="594360" y="155448"/>
            <a:ext cx="10881360" cy="713232"/>
          </a:xfrm>
          <a:prstGeom prst="rect">
            <a:avLst/>
          </a:prstGeom>
          <a:noFill/>
          <a:ln/>
        </p:spPr>
        <p:txBody>
          <a:bodyPr wrap="square" rtlCol="0"/>
          <a:lstStyle/>
          <a:p>
            <a:pPr marL="0" indent="0">
              <a:buNone/>
            </a:pPr>
            <a:r>
              <a:rPr lang="en-US" sz="3600" dirty="0">
                <a:solidFill>
                  <a:schemeClr val="accent6"/>
                </a:solidFill>
              </a:rPr>
              <a:t>La pregunta que articula el proyecto</a:t>
            </a:r>
          </a:p>
        </p:txBody>
      </p:sp>
      <p:sp>
        <p:nvSpPr>
          <p:cNvPr id="3" name="banda-pregunta"/>
          <p:cNvSpPr/>
          <p:nvPr/>
        </p:nvSpPr>
        <p:spPr>
          <a:xfrm>
            <a:off x="594360" y="1188720"/>
            <a:ext cx="10881360" cy="1005840"/>
          </a:xfrm>
          <a:prstGeom prst="roundRect">
            <a:avLst>
              <a:gd name="adj" fmla="val 7273"/>
            </a:avLst>
          </a:prstGeom>
          <a:solidFill>
            <a:srgbClr val="2D3C6E"/>
          </a:solidFill>
          <a:ln w="12700">
            <a:solidFill>
              <a:srgbClr val="2D3C6E"/>
            </a:solidFill>
            <a:prstDash val="solid"/>
          </a:ln>
        </p:spPr>
      </p:sp>
      <p:sp>
        <p:nvSpPr>
          <p:cNvPr id="4" name="pregunta"/>
          <p:cNvSpPr txBox="1"/>
          <p:nvPr/>
        </p:nvSpPr>
        <p:spPr>
          <a:xfrm>
            <a:off x="960120" y="1188720"/>
            <a:ext cx="10149840" cy="1005840"/>
          </a:xfrm>
          <a:prstGeom prst="rect">
            <a:avLst/>
          </a:prstGeom>
          <a:noFill/>
          <a:ln/>
        </p:spPr>
        <p:txBody>
          <a:bodyPr wrap="square" lIns="0" tIns="0" rIns="0" bIns="0" rtlCol="0" anchor="ctr"/>
          <a:lstStyle/>
          <a:p>
            <a:pPr marL="0" indent="0">
              <a:buNone/>
            </a:pPr>
            <a:r>
              <a:rPr lang="en-US" sz="1800" i="1" dirty="0">
                <a:solidFill>
                  <a:srgbClr val="FFFFFF"/>
                </a:solidFill>
              </a:rPr>
              <a:t>¿Dónde está saturada la oferta de cafeterías, dónde quedan vacíos de mercado y con qué formato puede diferenciarse un nuevo entrante?</a:t>
            </a:r>
            <a:endParaRPr lang="en-US" sz="1800" dirty="0"/>
          </a:p>
        </p:txBody>
      </p:sp>
      <p:sp>
        <p:nvSpPr>
          <p:cNvPr id="5" name="c1-num"/>
          <p:cNvSpPr txBox="1"/>
          <p:nvPr/>
        </p:nvSpPr>
        <p:spPr>
          <a:xfrm>
            <a:off x="594360" y="2514600"/>
            <a:ext cx="2468880" cy="868680"/>
          </a:xfrm>
          <a:prstGeom prst="rect">
            <a:avLst/>
          </a:prstGeom>
          <a:noFill/>
          <a:ln/>
        </p:spPr>
        <p:txBody>
          <a:bodyPr wrap="square" lIns="0" tIns="0" rIns="0" bIns="0" rtlCol="0" anchor="ctr"/>
          <a:lstStyle/>
          <a:p>
            <a:pPr marL="0" indent="0" algn="l">
              <a:buNone/>
            </a:pPr>
            <a:r>
              <a:rPr lang="en-US" sz="4600" b="1" dirty="0">
                <a:solidFill>
                  <a:srgbClr val="2D3C6E"/>
                </a:solidFill>
                <a:latin typeface="Cambria" pitchFamily="34" charset="0"/>
                <a:ea typeface="Cambria" pitchFamily="34" charset="-122"/>
                <a:cs typeface="Cambria" pitchFamily="34" charset="-120"/>
              </a:rPr>
              <a:t>46</a:t>
            </a:r>
            <a:endParaRPr lang="en-US" sz="4600" dirty="0"/>
          </a:p>
        </p:txBody>
      </p:sp>
      <p:sp>
        <p:nvSpPr>
          <p:cNvPr id="6" name="c1-lbl"/>
          <p:cNvSpPr txBox="1"/>
          <p:nvPr/>
        </p:nvSpPr>
        <p:spPr>
          <a:xfrm>
            <a:off x="411480" y="3260077"/>
            <a:ext cx="2468880" cy="640080"/>
          </a:xfrm>
          <a:prstGeom prst="rect">
            <a:avLst/>
          </a:prstGeom>
          <a:noFill/>
          <a:ln/>
        </p:spPr>
        <p:txBody>
          <a:bodyPr wrap="square" lIns="0" tIns="0" rIns="0" bIns="0" rtlCol="0" anchor="ctr"/>
          <a:lstStyle/>
          <a:p>
            <a:pPr marL="0" indent="0" algn="l">
              <a:buNone/>
            </a:pPr>
            <a:r>
              <a:rPr lang="en-US" sz="1400" dirty="0">
                <a:solidFill>
                  <a:schemeClr val="tx2"/>
                </a:solidFill>
              </a:rPr>
              <a:t>establecimientos extraídos de</a:t>
            </a:r>
            <a:endParaRPr lang="en-US" sz="1400" dirty="0"/>
          </a:p>
          <a:p>
            <a:pPr marL="0" indent="0" algn="l">
              <a:buNone/>
            </a:pPr>
            <a:r>
              <a:rPr lang="en-US" sz="1400" dirty="0">
                <a:solidFill>
                  <a:schemeClr val="tx2"/>
                </a:solidFill>
              </a:rPr>
              <a:t>Foursquare Places API</a:t>
            </a:r>
            <a:endParaRPr lang="en-US" sz="1400" dirty="0"/>
          </a:p>
        </p:txBody>
      </p:sp>
      <p:sp>
        <p:nvSpPr>
          <p:cNvPr id="7" name="c2-num"/>
          <p:cNvSpPr txBox="1"/>
          <p:nvPr/>
        </p:nvSpPr>
        <p:spPr>
          <a:xfrm>
            <a:off x="3429000" y="2514600"/>
            <a:ext cx="2468880" cy="868680"/>
          </a:xfrm>
          <a:prstGeom prst="rect">
            <a:avLst/>
          </a:prstGeom>
          <a:noFill/>
          <a:ln/>
        </p:spPr>
        <p:txBody>
          <a:bodyPr wrap="square" lIns="0" tIns="0" rIns="0" bIns="0" rtlCol="0" anchor="ctr"/>
          <a:lstStyle/>
          <a:p>
            <a:pPr marL="0" indent="0" algn="l">
              <a:buNone/>
            </a:pPr>
            <a:r>
              <a:rPr lang="en-US" sz="4600" b="1" dirty="0">
                <a:solidFill>
                  <a:srgbClr val="4A8FD4"/>
                </a:solidFill>
                <a:latin typeface="Cambria" pitchFamily="34" charset="0"/>
                <a:ea typeface="Cambria" pitchFamily="34" charset="-122"/>
                <a:cs typeface="Cambria" pitchFamily="34" charset="-120"/>
              </a:rPr>
              <a:t>64</a:t>
            </a:r>
            <a:endParaRPr lang="en-US" sz="4600" dirty="0"/>
          </a:p>
        </p:txBody>
      </p:sp>
      <p:sp>
        <p:nvSpPr>
          <p:cNvPr id="8" name="c2-lbl"/>
          <p:cNvSpPr txBox="1"/>
          <p:nvPr/>
        </p:nvSpPr>
        <p:spPr>
          <a:xfrm>
            <a:off x="3246120" y="3209544"/>
            <a:ext cx="2468880" cy="640080"/>
          </a:xfrm>
          <a:prstGeom prst="rect">
            <a:avLst/>
          </a:prstGeom>
          <a:noFill/>
          <a:ln/>
        </p:spPr>
        <p:txBody>
          <a:bodyPr wrap="square" lIns="0" tIns="0" rIns="0" bIns="0" rtlCol="0" anchor="ctr"/>
          <a:lstStyle/>
          <a:p>
            <a:pPr marL="0" indent="0" algn="l">
              <a:buNone/>
            </a:pPr>
            <a:r>
              <a:rPr lang="en-US" sz="1400" dirty="0">
                <a:solidFill>
                  <a:schemeClr val="tx2"/>
                </a:solidFill>
              </a:rPr>
              <a:t>celdas de ~500 m analizadas</a:t>
            </a:r>
            <a:endParaRPr lang="en-US" sz="1400" dirty="0"/>
          </a:p>
          <a:p>
            <a:pPr marL="0" indent="0" algn="l">
              <a:buNone/>
            </a:pPr>
            <a:r>
              <a:rPr lang="en-US" sz="1400" dirty="0">
                <a:solidFill>
                  <a:schemeClr val="tx2"/>
                </a:solidFill>
              </a:rPr>
              <a:t>sobre la localidad</a:t>
            </a:r>
            <a:endParaRPr lang="en-US" sz="1400" dirty="0"/>
          </a:p>
        </p:txBody>
      </p:sp>
      <p:sp>
        <p:nvSpPr>
          <p:cNvPr id="9" name="c3-num"/>
          <p:cNvSpPr txBox="1"/>
          <p:nvPr/>
        </p:nvSpPr>
        <p:spPr>
          <a:xfrm>
            <a:off x="6263640" y="2514600"/>
            <a:ext cx="2468880" cy="868680"/>
          </a:xfrm>
          <a:prstGeom prst="rect">
            <a:avLst/>
          </a:prstGeom>
          <a:noFill/>
          <a:ln/>
        </p:spPr>
        <p:txBody>
          <a:bodyPr wrap="square" lIns="0" tIns="0" rIns="0" bIns="0" rtlCol="0" anchor="ctr"/>
          <a:lstStyle/>
          <a:p>
            <a:pPr marL="0" indent="0" algn="l">
              <a:buNone/>
            </a:pPr>
            <a:r>
              <a:rPr lang="en-US" sz="4600" b="1" dirty="0">
                <a:solidFill>
                  <a:srgbClr val="C77B22"/>
                </a:solidFill>
                <a:latin typeface="Cambria" pitchFamily="34" charset="0"/>
                <a:ea typeface="Cambria" pitchFamily="34" charset="-122"/>
                <a:cs typeface="Cambria" pitchFamily="34" charset="-120"/>
              </a:rPr>
              <a:t>34,8 %</a:t>
            </a:r>
            <a:endParaRPr lang="en-US" sz="4600" dirty="0"/>
          </a:p>
        </p:txBody>
      </p:sp>
      <p:sp>
        <p:nvSpPr>
          <p:cNvPr id="10" name="c3-lbl"/>
          <p:cNvSpPr txBox="1"/>
          <p:nvPr/>
        </p:nvSpPr>
        <p:spPr>
          <a:xfrm>
            <a:off x="6220126" y="3209544"/>
            <a:ext cx="2468880" cy="640080"/>
          </a:xfrm>
          <a:prstGeom prst="rect">
            <a:avLst/>
          </a:prstGeom>
          <a:noFill/>
          <a:ln/>
        </p:spPr>
        <p:txBody>
          <a:bodyPr wrap="square" lIns="0" tIns="0" rIns="0" bIns="0" rtlCol="0" anchor="ctr"/>
          <a:lstStyle/>
          <a:p>
            <a:pPr marL="0" indent="0" algn="l">
              <a:buNone/>
            </a:pPr>
            <a:r>
              <a:rPr lang="en-US" sz="1400" dirty="0">
                <a:solidFill>
                  <a:schemeClr val="tx2"/>
                </a:solidFill>
              </a:rPr>
              <a:t>del mercado en manos de</a:t>
            </a:r>
            <a:endParaRPr lang="en-US" sz="1400" dirty="0"/>
          </a:p>
          <a:p>
            <a:pPr marL="0" indent="0" algn="l">
              <a:buNone/>
            </a:pPr>
            <a:r>
              <a:rPr lang="en-US" sz="1400" dirty="0">
                <a:solidFill>
                  <a:schemeClr val="tx2"/>
                </a:solidFill>
              </a:rPr>
              <a:t>tres cadenas</a:t>
            </a:r>
            <a:endParaRPr lang="en-US" sz="1400" dirty="0"/>
          </a:p>
        </p:txBody>
      </p:sp>
      <p:sp>
        <p:nvSpPr>
          <p:cNvPr id="11" name="c4-num"/>
          <p:cNvSpPr txBox="1"/>
          <p:nvPr/>
        </p:nvSpPr>
        <p:spPr>
          <a:xfrm>
            <a:off x="9098280" y="2514600"/>
            <a:ext cx="2468880" cy="868680"/>
          </a:xfrm>
          <a:prstGeom prst="rect">
            <a:avLst/>
          </a:prstGeom>
          <a:noFill/>
          <a:ln/>
        </p:spPr>
        <p:txBody>
          <a:bodyPr wrap="square" lIns="0" tIns="0" rIns="0" bIns="0" rtlCol="0" anchor="ctr"/>
          <a:lstStyle/>
          <a:p>
            <a:pPr marL="0" indent="0" algn="l">
              <a:buNone/>
            </a:pPr>
            <a:r>
              <a:rPr lang="en-US" sz="4600" b="1" dirty="0">
                <a:solidFill>
                  <a:srgbClr val="1C7293"/>
                </a:solidFill>
                <a:latin typeface="Cambria" pitchFamily="34" charset="0"/>
                <a:ea typeface="Cambria" pitchFamily="34" charset="-122"/>
                <a:cs typeface="Cambria" pitchFamily="34" charset="-120"/>
              </a:rPr>
              <a:t>62,5 %</a:t>
            </a:r>
            <a:endParaRPr lang="en-US" sz="4600" dirty="0"/>
          </a:p>
        </p:txBody>
      </p:sp>
      <p:sp>
        <p:nvSpPr>
          <p:cNvPr id="12" name="c4-lbl"/>
          <p:cNvSpPr txBox="1"/>
          <p:nvPr/>
        </p:nvSpPr>
        <p:spPr>
          <a:xfrm>
            <a:off x="9117530" y="3291840"/>
            <a:ext cx="2468880" cy="640080"/>
          </a:xfrm>
          <a:prstGeom prst="rect">
            <a:avLst/>
          </a:prstGeom>
          <a:noFill/>
          <a:ln/>
        </p:spPr>
        <p:txBody>
          <a:bodyPr wrap="square" lIns="0" tIns="0" rIns="0" bIns="0" rtlCol="0" anchor="ctr"/>
          <a:lstStyle/>
          <a:p>
            <a:pPr marL="0" indent="0" algn="l">
              <a:buNone/>
            </a:pPr>
            <a:r>
              <a:rPr lang="en-US" sz="1400" dirty="0">
                <a:solidFill>
                  <a:schemeClr val="tx2"/>
                </a:solidFill>
              </a:rPr>
              <a:t>de las celdas sin ninguna</a:t>
            </a:r>
            <a:endParaRPr lang="en-US" sz="1400" dirty="0"/>
          </a:p>
          <a:p>
            <a:pPr marL="0" indent="0" algn="l">
              <a:buNone/>
            </a:pPr>
            <a:r>
              <a:rPr lang="en-US" sz="1400" dirty="0">
                <a:solidFill>
                  <a:schemeClr val="tx2"/>
                </a:solidFill>
              </a:rPr>
              <a:t>oferta de café</a:t>
            </a:r>
            <a:endParaRPr lang="en-US" sz="1400" dirty="0"/>
          </a:p>
        </p:txBody>
      </p:sp>
      <p:sp>
        <p:nvSpPr>
          <p:cNvPr id="13" name="porque-fondo"/>
          <p:cNvSpPr/>
          <p:nvPr/>
        </p:nvSpPr>
        <p:spPr>
          <a:xfrm>
            <a:off x="594360" y="4343400"/>
            <a:ext cx="10881360" cy="1600200"/>
          </a:xfrm>
          <a:prstGeom prst="roundRect">
            <a:avLst>
              <a:gd name="adj" fmla="val 4571"/>
            </a:avLst>
          </a:prstGeom>
          <a:solidFill>
            <a:schemeClr val="bg2"/>
          </a:solidFill>
          <a:ln w="9525">
            <a:solidFill>
              <a:srgbClr val="D7E0ED"/>
            </a:solidFill>
            <a:prstDash val="solid"/>
          </a:ln>
        </p:spPr>
      </p:sp>
      <p:sp>
        <p:nvSpPr>
          <p:cNvPr id="14" name="porque-circulo"/>
          <p:cNvSpPr/>
          <p:nvPr/>
        </p:nvSpPr>
        <p:spPr>
          <a:xfrm>
            <a:off x="868680" y="4581144"/>
            <a:ext cx="310896" cy="310896"/>
          </a:xfrm>
          <a:prstGeom prst="ellipse">
            <a:avLst/>
          </a:prstGeom>
          <a:solidFill>
            <a:srgbClr val="1C7293"/>
          </a:solidFill>
          <a:ln w="12700">
            <a:solidFill>
              <a:srgbClr val="1C7293"/>
            </a:solidFill>
            <a:prstDash val="solid"/>
          </a:ln>
        </p:spPr>
      </p:sp>
      <p:sp>
        <p:nvSpPr>
          <p:cNvPr id="15" name="porque-titulo"/>
          <p:cNvSpPr txBox="1"/>
          <p:nvPr/>
        </p:nvSpPr>
        <p:spPr>
          <a:xfrm>
            <a:off x="1307592" y="4544568"/>
            <a:ext cx="9912096" cy="384048"/>
          </a:xfrm>
          <a:prstGeom prst="rect">
            <a:avLst/>
          </a:prstGeom>
          <a:noFill/>
          <a:ln/>
        </p:spPr>
        <p:txBody>
          <a:bodyPr wrap="square" lIns="0" tIns="0" rIns="0" bIns="0" rtlCol="0" anchor="ctr"/>
          <a:lstStyle/>
          <a:p>
            <a:pPr marL="0" indent="0">
              <a:buNone/>
            </a:pPr>
            <a:r>
              <a:rPr lang="en-US" sz="1600" b="1" dirty="0">
                <a:solidFill>
                  <a:srgbClr val="2D3C6E"/>
                </a:solidFill>
              </a:rPr>
              <a:t>Por qué un pipeline y no un análisis puntual</a:t>
            </a:r>
            <a:endParaRPr lang="en-US" sz="1600" dirty="0"/>
          </a:p>
        </p:txBody>
      </p:sp>
      <p:sp>
        <p:nvSpPr>
          <p:cNvPr id="16" name="porque-cuerpo"/>
          <p:cNvSpPr txBox="1"/>
          <p:nvPr/>
        </p:nvSpPr>
        <p:spPr>
          <a:xfrm>
            <a:off x="886968" y="5074920"/>
            <a:ext cx="10296144" cy="667512"/>
          </a:xfrm>
          <a:prstGeom prst="rect">
            <a:avLst/>
          </a:prstGeom>
          <a:noFill/>
          <a:ln/>
        </p:spPr>
        <p:txBody>
          <a:bodyPr wrap="square" lIns="0" tIns="0" rIns="0" bIns="0" rtlCol="0" anchor="ctr"/>
          <a:lstStyle/>
          <a:p>
            <a:pPr marL="0" indent="0">
              <a:lnSpc>
                <a:spcPct val="112000"/>
              </a:lnSpc>
              <a:buNone/>
            </a:pPr>
            <a:r>
              <a:rPr lang="en-US" sz="1400" dirty="0">
                <a:solidFill>
                  <a:schemeClr val="tx2"/>
                </a:solidFill>
              </a:rPr>
              <a:t>Un estudio de mercado en Excel responde la pregunta una vez. La ingesta es idempotente y el tablero consulta la base en vivo, así que cada nueva extracción actualiza el diagnóstico sin intervención manual. Eso convierte una fotografía en seguimiento continuo de aperturas y cierres.</a:t>
            </a:r>
            <a:endParaRPr lang="en-US" sz="1400" dirty="0"/>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2</a:t>
            </a:fld>
            <a:endParaRPr lang="en-US"/>
          </a:p>
        </p:txBody>
      </p:sp>
      <p:cxnSp>
        <p:nvCxnSpPr>
          <p:cNvPr id="18" name="Conector recto 17">
            <a:extLst>
              <a:ext uri="{FF2B5EF4-FFF2-40B4-BE49-F238E27FC236}">
                <a16:creationId xmlns:a16="http://schemas.microsoft.com/office/drawing/2014/main" id="{4CE5D441-2DAD-4545-81EE-1FF2CEF15701}"/>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
        <p:nvSpPr>
          <p:cNvPr id="19" name="Rectángulo: esquinas redondeadas 18">
            <a:extLst>
              <a:ext uri="{FF2B5EF4-FFF2-40B4-BE49-F238E27FC236}">
                <a16:creationId xmlns:a16="http://schemas.microsoft.com/office/drawing/2014/main" id="{45D9FE76-87B9-44FA-A16A-5DAC38F0124A}"/>
              </a:ext>
            </a:extLst>
          </p:cNvPr>
          <p:cNvSpPr/>
          <p:nvPr/>
        </p:nvSpPr>
        <p:spPr>
          <a:xfrm>
            <a:off x="259882" y="2514600"/>
            <a:ext cx="24375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esquinas redondeadas 20">
            <a:extLst>
              <a:ext uri="{FF2B5EF4-FFF2-40B4-BE49-F238E27FC236}">
                <a16:creationId xmlns:a16="http://schemas.microsoft.com/office/drawing/2014/main" id="{592891B4-0BA3-4987-B2CF-C3ED5B9D51CE}"/>
              </a:ext>
            </a:extLst>
          </p:cNvPr>
          <p:cNvSpPr/>
          <p:nvPr/>
        </p:nvSpPr>
        <p:spPr>
          <a:xfrm>
            <a:off x="3093720" y="2555989"/>
            <a:ext cx="24375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esquinas redondeadas 21">
            <a:extLst>
              <a:ext uri="{FF2B5EF4-FFF2-40B4-BE49-F238E27FC236}">
                <a16:creationId xmlns:a16="http://schemas.microsoft.com/office/drawing/2014/main" id="{786FC947-6B43-46DB-96D0-48E805321D73}"/>
              </a:ext>
            </a:extLst>
          </p:cNvPr>
          <p:cNvSpPr/>
          <p:nvPr/>
        </p:nvSpPr>
        <p:spPr>
          <a:xfrm>
            <a:off x="6055494" y="2564892"/>
            <a:ext cx="24375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esquinas redondeadas 22">
            <a:extLst>
              <a:ext uri="{FF2B5EF4-FFF2-40B4-BE49-F238E27FC236}">
                <a16:creationId xmlns:a16="http://schemas.microsoft.com/office/drawing/2014/main" id="{3FE5E382-47E1-47F9-8849-3697B79EA188}"/>
              </a:ext>
            </a:extLst>
          </p:cNvPr>
          <p:cNvSpPr/>
          <p:nvPr/>
        </p:nvSpPr>
        <p:spPr>
          <a:xfrm>
            <a:off x="8940666" y="2549733"/>
            <a:ext cx="24375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hasCustomPrompt="1"/>
          </p:nvPr>
        </p:nvSpPr>
        <p:spPr>
          <a:xfrm>
            <a:off x="594360" y="143417"/>
            <a:ext cx="10881360" cy="713232"/>
          </a:xfrm>
          <a:prstGeom prst="rect">
            <a:avLst/>
          </a:prstGeom>
          <a:noFill/>
          <a:ln/>
        </p:spPr>
        <p:txBody>
          <a:bodyPr wrap="square" rtlCol="0"/>
          <a:lstStyle/>
          <a:p>
            <a:pPr marL="0" indent="0">
              <a:buNone/>
            </a:pPr>
            <a:r>
              <a:rPr lang="en-US" sz="3600" dirty="0">
                <a:solidFill>
                  <a:schemeClr val="accent6"/>
                </a:solidFill>
              </a:rPr>
              <a:t>Un modelo de servicio distinto para cada etapa</a:t>
            </a:r>
          </a:p>
        </p:txBody>
      </p:sp>
      <p:pic>
        <p:nvPicPr>
          <p:cNvPr id="3" name="diagrama" descr="/home/claude/final/img/arquitectura_azul_ppt.png"/>
          <p:cNvPicPr>
            <a:picLocks noChangeAspect="1"/>
          </p:cNvPicPr>
          <p:nvPr/>
        </p:nvPicPr>
        <p:blipFill>
          <a:blip r:embed="rId3"/>
          <a:stretch>
            <a:fillRect/>
          </a:stretch>
        </p:blipFill>
        <p:spPr>
          <a:xfrm>
            <a:off x="457200" y="1234440"/>
            <a:ext cx="11247120" cy="4809744"/>
          </a:xfrm>
          <a:prstGeom prst="rect">
            <a:avLst/>
          </a:prstGeom>
        </p:spPr>
      </p:pic>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3</a:t>
            </a:fld>
            <a:endParaRPr lang="en-US"/>
          </a:p>
        </p:txBody>
      </p:sp>
      <p:cxnSp>
        <p:nvCxnSpPr>
          <p:cNvPr id="5" name="Conector recto 4">
            <a:extLst>
              <a:ext uri="{FF2B5EF4-FFF2-40B4-BE49-F238E27FC236}">
                <a16:creationId xmlns:a16="http://schemas.microsoft.com/office/drawing/2014/main" id="{9B0E2BFE-3DF8-4485-8CF5-B3D1F578D62F}"/>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hasCustomPrompt="1"/>
          </p:nvPr>
        </p:nvSpPr>
        <p:spPr>
          <a:xfrm>
            <a:off x="502920" y="160742"/>
            <a:ext cx="10881360" cy="713232"/>
          </a:xfrm>
          <a:prstGeom prst="rect">
            <a:avLst/>
          </a:prstGeom>
          <a:noFill/>
          <a:ln/>
        </p:spPr>
        <p:txBody>
          <a:bodyPr wrap="square" rtlCol="0"/>
          <a:lstStyle/>
          <a:p>
            <a:pPr marL="0" indent="0">
              <a:buNone/>
            </a:pPr>
            <a:r>
              <a:rPr lang="en-US" sz="3600" dirty="0">
                <a:solidFill>
                  <a:schemeClr val="accent6"/>
                </a:solidFill>
              </a:rPr>
              <a:t>El pipeline funcionando de extremo a extremo</a:t>
            </a:r>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5</a:t>
            </a:fld>
            <a:endParaRPr lang="en-US"/>
          </a:p>
        </p:txBody>
      </p:sp>
      <p:cxnSp>
        <p:nvCxnSpPr>
          <p:cNvPr id="24" name="Conector recto 23">
            <a:extLst>
              <a:ext uri="{FF2B5EF4-FFF2-40B4-BE49-F238E27FC236}">
                <a16:creationId xmlns:a16="http://schemas.microsoft.com/office/drawing/2014/main" id="{AF04A2CF-B49C-4D12-9C10-C5C23E3C7F67}"/>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
        <p:nvSpPr>
          <p:cNvPr id="4" name="ev1-circulo"/>
          <p:cNvSpPr/>
          <p:nvPr/>
        </p:nvSpPr>
        <p:spPr>
          <a:xfrm>
            <a:off x="594360" y="1060704"/>
            <a:ext cx="310896" cy="310896"/>
          </a:xfrm>
          <a:prstGeom prst="ellipse">
            <a:avLst/>
          </a:prstGeom>
          <a:solidFill>
            <a:srgbClr val="2D3C6E"/>
          </a:solidFill>
          <a:ln w="12700">
            <a:solidFill>
              <a:srgbClr val="2D3C6E"/>
            </a:solidFill>
            <a:prstDash val="solid"/>
          </a:ln>
        </p:spPr>
      </p:sp>
      <p:sp>
        <p:nvSpPr>
          <p:cNvPr id="5" name="ev1-insignia"/>
          <p:cNvSpPr txBox="1"/>
          <p:nvPr/>
        </p:nvSpPr>
        <p:spPr>
          <a:xfrm>
            <a:off x="594360" y="1060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6" name="ev1-rotulo"/>
          <p:cNvSpPr txBox="1"/>
          <p:nvPr/>
        </p:nvSpPr>
        <p:spPr>
          <a:xfrm>
            <a:off x="1005840" y="1024128"/>
            <a:ext cx="3035808" cy="384048"/>
          </a:xfrm>
          <a:prstGeom prst="rect">
            <a:avLst/>
          </a:prstGeom>
          <a:noFill/>
          <a:ln/>
        </p:spPr>
        <p:txBody>
          <a:bodyPr wrap="square" lIns="0" tIns="0" rIns="0" bIns="0" rtlCol="0" anchor="ctr"/>
          <a:lstStyle/>
          <a:p>
            <a:pPr marL="0" indent="0">
              <a:buNone/>
            </a:pPr>
            <a:r>
              <a:rPr lang="en-US" sz="1200" b="1" dirty="0">
                <a:solidFill>
                  <a:srgbClr val="2D3C6E"/>
                </a:solidFill>
              </a:rPr>
              <a:t>S3: el CSV original en la zona cruda</a:t>
            </a:r>
            <a:endParaRPr lang="en-US" sz="1450" dirty="0"/>
          </a:p>
        </p:txBody>
      </p:sp>
      <p:pic>
        <p:nvPicPr>
          <p:cNvPr id="26" name="ev1-captura" descr="e1_s3.png"/>
          <p:cNvPicPr>
            <a:picLocks noChangeAspect="1"/>
          </p:cNvPicPr>
          <p:nvPr/>
        </p:nvPicPr>
        <p:blipFill>
          <a:blip r:embed="rId2"/>
          <a:stretch>
            <a:fillRect/>
          </a:stretch>
        </p:blipFill>
        <p:spPr>
          <a:xfrm>
            <a:off x="594360" y="1481328"/>
            <a:ext cx="3447288" cy="1094139"/>
          </a:xfrm>
          <a:prstGeom prst="rect">
            <a:avLst/>
          </a:prstGeom>
          <a:ln w="9525">
            <a:solidFill>
              <a:srgbClr val="C8CFDA"/>
            </a:solidFill>
          </a:ln>
        </p:spPr>
      </p:pic>
      <p:sp>
        <p:nvSpPr>
          <p:cNvPr id="4" name="ev2-circulo"/>
          <p:cNvSpPr/>
          <p:nvPr/>
        </p:nvSpPr>
        <p:spPr>
          <a:xfrm>
            <a:off x="4311396" y="1060704"/>
            <a:ext cx="310896" cy="310896"/>
          </a:xfrm>
          <a:prstGeom prst="ellipse">
            <a:avLst/>
          </a:prstGeom>
          <a:solidFill>
            <a:srgbClr val="2D3C6E"/>
          </a:solidFill>
          <a:ln w="12700">
            <a:solidFill>
              <a:srgbClr val="2D3C6E"/>
            </a:solidFill>
            <a:prstDash val="solid"/>
          </a:ln>
        </p:spPr>
      </p:sp>
      <p:sp>
        <p:nvSpPr>
          <p:cNvPr id="5" name="ev2-insignia"/>
          <p:cNvSpPr txBox="1"/>
          <p:nvPr/>
        </p:nvSpPr>
        <p:spPr>
          <a:xfrm>
            <a:off x="4311396" y="1060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6" name="ev2-rotulo"/>
          <p:cNvSpPr txBox="1"/>
          <p:nvPr/>
        </p:nvSpPr>
        <p:spPr>
          <a:xfrm>
            <a:off x="4722876" y="1024128"/>
            <a:ext cx="3035808" cy="384048"/>
          </a:xfrm>
          <a:prstGeom prst="rect">
            <a:avLst/>
          </a:prstGeom>
          <a:noFill/>
          <a:ln/>
        </p:spPr>
        <p:txBody>
          <a:bodyPr wrap="square" lIns="0" tIns="0" rIns="0" bIns="0" rtlCol="0" anchor="ctr"/>
          <a:lstStyle/>
          <a:p>
            <a:pPr marL="0" indent="0">
              <a:buNone/>
            </a:pPr>
            <a:r>
              <a:rPr lang="en-US" sz="1200" b="1" dirty="0">
                <a:solidFill>
                  <a:srgbClr val="2D3C6E"/>
                </a:solidFill>
              </a:rPr>
              <a:t>Lambda: 46 registros cargados en 272 ms</a:t>
            </a:r>
            <a:endParaRPr lang="en-US" sz="1450" dirty="0"/>
          </a:p>
        </p:txBody>
      </p:sp>
      <p:pic>
        <p:nvPicPr>
          <p:cNvPr id="27" name="ev2-captura" descr="e2_lambda.png"/>
          <p:cNvPicPr>
            <a:picLocks noChangeAspect="1"/>
          </p:cNvPicPr>
          <p:nvPr/>
        </p:nvPicPr>
        <p:blipFill>
          <a:blip r:embed="rId3"/>
          <a:stretch>
            <a:fillRect/>
          </a:stretch>
        </p:blipFill>
        <p:spPr>
          <a:xfrm>
            <a:off x="4311396" y="1481328"/>
            <a:ext cx="3447288" cy="989767"/>
          </a:xfrm>
          <a:prstGeom prst="rect">
            <a:avLst/>
          </a:prstGeom>
          <a:ln w="9525">
            <a:solidFill>
              <a:srgbClr val="C8CFDA"/>
            </a:solidFill>
          </a:ln>
        </p:spPr>
      </p:pic>
      <p:sp>
        <p:nvSpPr>
          <p:cNvPr id="4" name="ev3-circulo"/>
          <p:cNvSpPr/>
          <p:nvPr/>
        </p:nvSpPr>
        <p:spPr>
          <a:xfrm>
            <a:off x="8028431" y="1060704"/>
            <a:ext cx="310896" cy="310896"/>
          </a:xfrm>
          <a:prstGeom prst="ellipse">
            <a:avLst/>
          </a:prstGeom>
          <a:solidFill>
            <a:srgbClr val="2D3C6E"/>
          </a:solidFill>
          <a:ln w="12700">
            <a:solidFill>
              <a:srgbClr val="2D3C6E"/>
            </a:solidFill>
            <a:prstDash val="solid"/>
          </a:ln>
        </p:spPr>
      </p:sp>
      <p:sp>
        <p:nvSpPr>
          <p:cNvPr id="5" name="ev3-insignia"/>
          <p:cNvSpPr txBox="1"/>
          <p:nvPr/>
        </p:nvSpPr>
        <p:spPr>
          <a:xfrm>
            <a:off x="8028431" y="1060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6" name="ev3-rotulo"/>
          <p:cNvSpPr txBox="1"/>
          <p:nvPr/>
        </p:nvSpPr>
        <p:spPr>
          <a:xfrm>
            <a:off x="8439911" y="1024128"/>
            <a:ext cx="3035808" cy="384048"/>
          </a:xfrm>
          <a:prstGeom prst="rect">
            <a:avLst/>
          </a:prstGeom>
          <a:noFill/>
          <a:ln/>
        </p:spPr>
        <p:txBody>
          <a:bodyPr wrap="square" lIns="0" tIns="0" rIns="0" bIns="0" rtlCol="0" anchor="ctr"/>
          <a:lstStyle/>
          <a:p>
            <a:pPr marL="0" indent="0">
              <a:buNone/>
            </a:pPr>
            <a:r>
              <a:rPr lang="en-US" sz="1200" b="1" dirty="0">
                <a:solidFill>
                  <a:srgbClr val="2D3C6E"/>
                </a:solidFill>
              </a:rPr>
              <a:t>RDS: 46 registros y 46 identificadores únicos</a:t>
            </a:r>
            <a:endParaRPr lang="en-US" sz="1450" dirty="0"/>
          </a:p>
        </p:txBody>
      </p:sp>
      <p:pic>
        <p:nvPicPr>
          <p:cNvPr id="28" name="ev3-captura" descr="e3_sql.png"/>
          <p:cNvPicPr>
            <a:picLocks noChangeAspect="1"/>
          </p:cNvPicPr>
          <p:nvPr/>
        </p:nvPicPr>
        <p:blipFill>
          <a:blip r:embed="rId4"/>
          <a:stretch>
            <a:fillRect/>
          </a:stretch>
        </p:blipFill>
        <p:spPr>
          <a:xfrm>
            <a:off x="8028431" y="1481328"/>
            <a:ext cx="3447288" cy="1076226"/>
          </a:xfrm>
          <a:prstGeom prst="rect">
            <a:avLst/>
          </a:prstGeom>
          <a:ln w="9525">
            <a:solidFill>
              <a:srgbClr val="C8CFDA"/>
            </a:solidFill>
          </a:ln>
        </p:spPr>
      </p:pic>
      <p:sp>
        <p:nvSpPr>
          <p:cNvPr id="4" name="ev4-circulo"/>
          <p:cNvSpPr/>
          <p:nvPr/>
        </p:nvSpPr>
        <p:spPr>
          <a:xfrm>
            <a:off x="594360" y="3191256"/>
            <a:ext cx="310896" cy="310896"/>
          </a:xfrm>
          <a:prstGeom prst="ellipse">
            <a:avLst/>
          </a:prstGeom>
          <a:solidFill>
            <a:srgbClr val="2D3C6E"/>
          </a:solidFill>
          <a:ln w="12700">
            <a:solidFill>
              <a:srgbClr val="2D3C6E"/>
            </a:solidFill>
            <a:prstDash val="solid"/>
          </a:ln>
        </p:spPr>
      </p:sp>
      <p:sp>
        <p:nvSpPr>
          <p:cNvPr id="5" name="ev4-insignia"/>
          <p:cNvSpPr txBox="1"/>
          <p:nvPr/>
        </p:nvSpPr>
        <p:spPr>
          <a:xfrm>
            <a:off x="594360"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6" name="ev4-rotulo"/>
          <p:cNvSpPr txBox="1"/>
          <p:nvPr/>
        </p:nvSpPr>
        <p:spPr>
          <a:xfrm>
            <a:off x="1005840" y="3154680"/>
            <a:ext cx="4892040" cy="384048"/>
          </a:xfrm>
          <a:prstGeom prst="rect">
            <a:avLst/>
          </a:prstGeom>
          <a:noFill/>
          <a:ln/>
        </p:spPr>
        <p:txBody>
          <a:bodyPr wrap="square" lIns="0" tIns="0" rIns="0" bIns="0" rtlCol="0" anchor="ctr"/>
          <a:lstStyle/>
          <a:p>
            <a:pPr marL="0" indent="0">
              <a:buNone/>
            </a:pPr>
            <a:r>
              <a:rPr lang="en-US" sz="1200" b="1" dirty="0">
                <a:solidFill>
                  <a:srgbClr val="2D3C6E"/>
                </a:solidFill>
              </a:rPr>
              <a:t>Grafana en el clúster, puerto 30000</a:t>
            </a:r>
            <a:endParaRPr lang="en-US" sz="1450" dirty="0"/>
          </a:p>
        </p:txBody>
      </p:sp>
      <p:pic>
        <p:nvPicPr>
          <p:cNvPr id="29" name="ev4-captura" descr="e4_dash.png"/>
          <p:cNvPicPr>
            <a:picLocks noChangeAspect="1"/>
          </p:cNvPicPr>
          <p:nvPr/>
        </p:nvPicPr>
        <p:blipFill>
          <a:blip r:embed="rId5"/>
          <a:stretch>
            <a:fillRect/>
          </a:stretch>
        </p:blipFill>
        <p:spPr>
          <a:xfrm>
            <a:off x="678551" y="3611880"/>
            <a:ext cx="5135136" cy="2514600"/>
          </a:xfrm>
          <a:prstGeom prst="rect">
            <a:avLst/>
          </a:prstGeom>
          <a:ln w="9525">
            <a:solidFill>
              <a:srgbClr val="C8CFDA"/>
            </a:solidFill>
          </a:ln>
        </p:spPr>
      </p:pic>
      <p:sp>
        <p:nvSpPr>
          <p:cNvPr id="4" name="ev5-circulo"/>
          <p:cNvSpPr/>
          <p:nvPr/>
        </p:nvSpPr>
        <p:spPr>
          <a:xfrm>
            <a:off x="6172200" y="3191256"/>
            <a:ext cx="310896" cy="310896"/>
          </a:xfrm>
          <a:prstGeom prst="ellipse">
            <a:avLst/>
          </a:prstGeom>
          <a:solidFill>
            <a:srgbClr val="2D3C6E"/>
          </a:solidFill>
          <a:ln w="12700">
            <a:solidFill>
              <a:srgbClr val="2D3C6E"/>
            </a:solidFill>
            <a:prstDash val="solid"/>
          </a:ln>
        </p:spPr>
      </p:sp>
      <p:sp>
        <p:nvSpPr>
          <p:cNvPr id="5" name="ev5-insignia"/>
          <p:cNvSpPr txBox="1"/>
          <p:nvPr/>
        </p:nvSpPr>
        <p:spPr>
          <a:xfrm>
            <a:off x="6172200" y="3191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6" name="ev5-rotulo"/>
          <p:cNvSpPr txBox="1"/>
          <p:nvPr/>
        </p:nvSpPr>
        <p:spPr>
          <a:xfrm>
            <a:off x="6583680" y="3154680"/>
            <a:ext cx="4892040" cy="384048"/>
          </a:xfrm>
          <a:prstGeom prst="rect">
            <a:avLst/>
          </a:prstGeom>
          <a:noFill/>
          <a:ln/>
        </p:spPr>
        <p:txBody>
          <a:bodyPr wrap="square" lIns="0" tIns="0" rIns="0" bIns="0" rtlCol="0" anchor="ctr"/>
          <a:lstStyle/>
          <a:p>
            <a:pPr marL="0" indent="0">
              <a:buNone/>
            </a:pPr>
            <a:r>
              <a:rPr lang="en-US" sz="1200" b="1" dirty="0">
                <a:solidFill>
                  <a:srgbClr val="2D3C6E"/>
                </a:solidFill>
              </a:rPr>
              <a:t>kubectl y helm: nodo, pod, Service, release y Secrets</a:t>
            </a:r>
            <a:endParaRPr lang="en-US" sz="1450" dirty="0"/>
          </a:p>
        </p:txBody>
      </p:sp>
      <p:pic>
        <p:nvPicPr>
          <p:cNvPr id="30" name="ev5-captura" descr="e5_k8s.png"/>
          <p:cNvPicPr>
            <a:picLocks noChangeAspect="1"/>
          </p:cNvPicPr>
          <p:nvPr/>
        </p:nvPicPr>
        <p:blipFill>
          <a:blip r:embed="rId6"/>
          <a:stretch>
            <a:fillRect/>
          </a:stretch>
        </p:blipFill>
        <p:spPr>
          <a:xfrm>
            <a:off x="6172200" y="3611880"/>
            <a:ext cx="5303520" cy="1796632"/>
          </a:xfrm>
          <a:prstGeom prst="rect">
            <a:avLst/>
          </a:prstGeom>
          <a:ln w="9525">
            <a:solidFill>
              <a:srgbClr val="C8CFDA"/>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hasCustomPrompt="1"/>
          </p:nvPr>
        </p:nvSpPr>
        <p:spPr>
          <a:xfrm>
            <a:off x="502920" y="160742"/>
            <a:ext cx="10881360" cy="713232"/>
          </a:xfrm>
          <a:prstGeom prst="rect">
            <a:avLst/>
          </a:prstGeom>
          <a:noFill/>
          <a:ln/>
        </p:spPr>
        <p:txBody>
          <a:bodyPr wrap="square" rtlCol="0"/>
          <a:lstStyle/>
          <a:p>
            <a:pPr marL="0" indent="0">
              <a:buNone/>
            </a:pPr>
            <a:r>
              <a:rPr lang="en-US" sz="3600" dirty="0">
                <a:solidFill>
                  <a:schemeClr val="accent6"/>
                </a:solidFill>
              </a:rPr>
              <a:t>Cuatro decisiones y la alternativa que descartamos</a:t>
            </a:r>
          </a:p>
        </p:txBody>
      </p:sp>
      <p:sp>
        <p:nvSpPr>
          <p:cNvPr id="3" name="d1-fondo"/>
          <p:cNvSpPr/>
          <p:nvPr/>
        </p:nvSpPr>
        <p:spPr>
          <a:xfrm>
            <a:off x="594360" y="1207008"/>
            <a:ext cx="5349240" cy="2331720"/>
          </a:xfrm>
          <a:prstGeom prst="roundRect">
            <a:avLst>
              <a:gd name="adj" fmla="val 3137"/>
            </a:avLst>
          </a:prstGeom>
          <a:solidFill>
            <a:schemeClr val="bg2"/>
          </a:solidFill>
          <a:ln w="9525">
            <a:solidFill>
              <a:srgbClr val="D7E0ED"/>
            </a:solidFill>
            <a:prstDash val="solid"/>
          </a:ln>
        </p:spPr>
      </p:sp>
      <p:sp>
        <p:nvSpPr>
          <p:cNvPr id="4" name="d1-circulo"/>
          <p:cNvSpPr/>
          <p:nvPr/>
        </p:nvSpPr>
        <p:spPr>
          <a:xfrm>
            <a:off x="868680" y="1444752"/>
            <a:ext cx="310896" cy="310896"/>
          </a:xfrm>
          <a:prstGeom prst="ellipse">
            <a:avLst/>
          </a:prstGeom>
          <a:solidFill>
            <a:srgbClr val="2D3C6E"/>
          </a:solidFill>
          <a:ln w="12700">
            <a:solidFill>
              <a:srgbClr val="2D3C6E"/>
            </a:solidFill>
            <a:prstDash val="solid"/>
          </a:ln>
        </p:spPr>
      </p:sp>
      <p:sp>
        <p:nvSpPr>
          <p:cNvPr id="5" name="d1-insignia"/>
          <p:cNvSpPr txBox="1"/>
          <p:nvPr/>
        </p:nvSpPr>
        <p:spPr>
          <a:xfrm>
            <a:off x="868680" y="14447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6" name="d1-titulo"/>
          <p:cNvSpPr txBox="1"/>
          <p:nvPr/>
        </p:nvSpPr>
        <p:spPr>
          <a:xfrm>
            <a:off x="1307592" y="1408176"/>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Lambda, no un script en EC2</a:t>
            </a:r>
            <a:endParaRPr lang="en-US" sz="1450" dirty="0"/>
          </a:p>
        </p:txBody>
      </p:sp>
      <p:sp>
        <p:nvSpPr>
          <p:cNvPr id="7" name="d1-cuerpo"/>
          <p:cNvSpPr txBox="1"/>
          <p:nvPr/>
        </p:nvSpPr>
        <p:spPr>
          <a:xfrm>
            <a:off x="886968" y="1938528"/>
            <a:ext cx="4764024" cy="139903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La transformación dura 272 ms una vez al día. Pagar una instancia encendida 730 horas al mes por ese trabajo es desproporcionado.</a:t>
            </a:r>
            <a:endParaRPr lang="en-US" sz="1250" dirty="0"/>
          </a:p>
          <a:p>
            <a:pPr marL="0" indent="0">
              <a:lnSpc>
                <a:spcPct val="112000"/>
              </a:lnSpc>
              <a:buNone/>
            </a:pPr>
            <a:endParaRPr lang="en-US" sz="1250" dirty="0"/>
          </a:p>
          <a:p>
            <a:pPr marL="0" indent="0">
              <a:lnSpc>
                <a:spcPct val="112000"/>
              </a:lnSpc>
              <a:buNone/>
            </a:pPr>
            <a:r>
              <a:rPr lang="en-US" sz="1250" dirty="0">
                <a:solidFill>
                  <a:schemeClr val="tx2"/>
                </a:solidFill>
              </a:rPr>
              <a:t>Treinta invocaciones consumen 2,04 GB-segundo frente a los 400.000 de la capa gratuita: cuesta cero.</a:t>
            </a:r>
            <a:endParaRPr lang="en-US" sz="1250" dirty="0"/>
          </a:p>
        </p:txBody>
      </p:sp>
      <p:sp>
        <p:nvSpPr>
          <p:cNvPr id="8" name="d2-fondo"/>
          <p:cNvSpPr/>
          <p:nvPr/>
        </p:nvSpPr>
        <p:spPr>
          <a:xfrm>
            <a:off x="6126480" y="1207008"/>
            <a:ext cx="5349240" cy="2331720"/>
          </a:xfrm>
          <a:prstGeom prst="roundRect">
            <a:avLst>
              <a:gd name="adj" fmla="val 3137"/>
            </a:avLst>
          </a:prstGeom>
          <a:solidFill>
            <a:schemeClr val="bg2"/>
          </a:solidFill>
          <a:ln w="9525">
            <a:solidFill>
              <a:srgbClr val="D7E0ED"/>
            </a:solidFill>
            <a:prstDash val="solid"/>
          </a:ln>
        </p:spPr>
      </p:sp>
      <p:sp>
        <p:nvSpPr>
          <p:cNvPr id="9" name="d2-circulo"/>
          <p:cNvSpPr/>
          <p:nvPr/>
        </p:nvSpPr>
        <p:spPr>
          <a:xfrm>
            <a:off x="6400800" y="1444752"/>
            <a:ext cx="310896" cy="310896"/>
          </a:xfrm>
          <a:prstGeom prst="ellipse">
            <a:avLst/>
          </a:prstGeom>
          <a:solidFill>
            <a:srgbClr val="4A8FD4"/>
          </a:solidFill>
          <a:ln w="12700">
            <a:solidFill>
              <a:srgbClr val="4A8FD4"/>
            </a:solidFill>
            <a:prstDash val="solid"/>
          </a:ln>
        </p:spPr>
      </p:sp>
      <p:sp>
        <p:nvSpPr>
          <p:cNvPr id="10" name="d2-insignia"/>
          <p:cNvSpPr txBox="1"/>
          <p:nvPr/>
        </p:nvSpPr>
        <p:spPr>
          <a:xfrm>
            <a:off x="6400800" y="14447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d2-titulo"/>
          <p:cNvSpPr txBox="1"/>
          <p:nvPr/>
        </p:nvSpPr>
        <p:spPr>
          <a:xfrm>
            <a:off x="6839712" y="1408176"/>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PostgreSQL, no DynamoDB</a:t>
            </a:r>
            <a:endParaRPr lang="en-US" sz="1450" dirty="0"/>
          </a:p>
        </p:txBody>
      </p:sp>
      <p:sp>
        <p:nvSpPr>
          <p:cNvPr id="12" name="d2-cuerpo"/>
          <p:cNvSpPr txBox="1"/>
          <p:nvPr/>
        </p:nvSpPr>
        <p:spPr>
          <a:xfrm>
            <a:off x="6419088" y="1938528"/>
            <a:ext cx="4764024" cy="139903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Las consultas del tablero son analíticas: agregaciones, funciones de ventana y generate_series para construir la cuadrícula.</a:t>
            </a:r>
            <a:endParaRPr lang="en-US" sz="1250" dirty="0"/>
          </a:p>
          <a:p>
            <a:pPr marL="0" indent="0">
              <a:lnSpc>
                <a:spcPct val="112000"/>
              </a:lnSpc>
              <a:buNone/>
            </a:pPr>
            <a:endParaRPr lang="en-US" sz="1250" dirty="0"/>
          </a:p>
          <a:p>
            <a:pPr marL="0" indent="0">
              <a:lnSpc>
                <a:spcPct val="112000"/>
              </a:lnSpc>
              <a:buNone/>
            </a:pPr>
            <a:r>
              <a:rPr lang="en-US" sz="1250" dirty="0">
                <a:solidFill>
                  <a:schemeClr val="tx2"/>
                </a:solidFill>
              </a:rPr>
              <a:t>Un motor relacional las resuelve en SQL; en un almacén de clave-valor habría que precalcularlas.</a:t>
            </a:r>
            <a:endParaRPr lang="en-US" sz="1250" dirty="0"/>
          </a:p>
        </p:txBody>
      </p:sp>
      <p:sp>
        <p:nvSpPr>
          <p:cNvPr id="13" name="d3-fondo"/>
          <p:cNvSpPr/>
          <p:nvPr/>
        </p:nvSpPr>
        <p:spPr>
          <a:xfrm>
            <a:off x="594360" y="3703320"/>
            <a:ext cx="5349240" cy="2331720"/>
          </a:xfrm>
          <a:prstGeom prst="roundRect">
            <a:avLst>
              <a:gd name="adj" fmla="val 3137"/>
            </a:avLst>
          </a:prstGeom>
          <a:solidFill>
            <a:schemeClr val="bg2"/>
          </a:solidFill>
          <a:ln w="9525">
            <a:solidFill>
              <a:srgbClr val="D7E0ED"/>
            </a:solidFill>
            <a:prstDash val="solid"/>
          </a:ln>
        </p:spPr>
      </p:sp>
      <p:sp>
        <p:nvSpPr>
          <p:cNvPr id="14" name="d3-circulo"/>
          <p:cNvSpPr/>
          <p:nvPr/>
        </p:nvSpPr>
        <p:spPr>
          <a:xfrm>
            <a:off x="868680" y="3941064"/>
            <a:ext cx="310896" cy="310896"/>
          </a:xfrm>
          <a:prstGeom prst="ellipse">
            <a:avLst/>
          </a:prstGeom>
          <a:solidFill>
            <a:srgbClr val="1C7293"/>
          </a:solidFill>
          <a:ln w="12700">
            <a:solidFill>
              <a:srgbClr val="1C7293"/>
            </a:solidFill>
            <a:prstDash val="solid"/>
          </a:ln>
        </p:spPr>
      </p:sp>
      <p:sp>
        <p:nvSpPr>
          <p:cNvPr id="15" name="d3-insignia"/>
          <p:cNvSpPr txBox="1"/>
          <p:nvPr/>
        </p:nvSpPr>
        <p:spPr>
          <a:xfrm>
            <a:off x="868680" y="394106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d3-titulo"/>
          <p:cNvSpPr txBox="1"/>
          <p:nvPr/>
        </p:nvSpPr>
        <p:spPr>
          <a:xfrm>
            <a:off x="1307592" y="3904488"/>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JSONB, no una tabla puente</a:t>
            </a:r>
            <a:endParaRPr lang="en-US" sz="1450" dirty="0"/>
          </a:p>
        </p:txBody>
      </p:sp>
      <p:sp>
        <p:nvSpPr>
          <p:cNvPr id="17" name="d3-cuerpo"/>
          <p:cNvSpPr txBox="1"/>
          <p:nvPr/>
        </p:nvSpPr>
        <p:spPr>
          <a:xfrm>
            <a:off x="886968" y="4434840"/>
            <a:ext cx="4764024" cy="139903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Nueve de los 46 locales combinan cafetería con panadería, coworking o venta de bicicletas.</a:t>
            </a:r>
            <a:endParaRPr lang="en-US" sz="1250" dirty="0"/>
          </a:p>
          <a:p>
            <a:pPr marL="0" indent="0">
              <a:lnSpc>
                <a:spcPct val="112000"/>
              </a:lnSpc>
              <a:buNone/>
            </a:pPr>
            <a:endParaRPr lang="en-US" sz="1250" dirty="0"/>
          </a:p>
          <a:p>
            <a:pPr marL="0" indent="0">
              <a:lnSpc>
                <a:spcPct val="112000"/>
              </a:lnSpc>
              <a:buNone/>
            </a:pPr>
            <a:r>
              <a:rPr lang="en-US" sz="1250" dirty="0">
                <a:solidFill>
                  <a:schemeClr val="tx2"/>
                </a:solidFill>
              </a:rPr>
              <a:t>La taxonomía es externa y no necesitamos integridad referencial sobre ella. JSONB con índice GIN evita dos tablas y un JOIN.</a:t>
            </a:r>
            <a:endParaRPr lang="en-US" sz="1250" dirty="0"/>
          </a:p>
        </p:txBody>
      </p:sp>
      <p:sp>
        <p:nvSpPr>
          <p:cNvPr id="18" name="d4-fondo"/>
          <p:cNvSpPr/>
          <p:nvPr/>
        </p:nvSpPr>
        <p:spPr>
          <a:xfrm>
            <a:off x="6126480" y="3703320"/>
            <a:ext cx="5349240" cy="2331720"/>
          </a:xfrm>
          <a:prstGeom prst="roundRect">
            <a:avLst>
              <a:gd name="adj" fmla="val 3137"/>
            </a:avLst>
          </a:prstGeom>
          <a:solidFill>
            <a:schemeClr val="bg2"/>
          </a:solidFill>
          <a:ln w="9525">
            <a:solidFill>
              <a:srgbClr val="D7E0ED"/>
            </a:solidFill>
            <a:prstDash val="solid"/>
          </a:ln>
        </p:spPr>
      </p:sp>
      <p:sp>
        <p:nvSpPr>
          <p:cNvPr id="19" name="d4-circulo"/>
          <p:cNvSpPr/>
          <p:nvPr/>
        </p:nvSpPr>
        <p:spPr>
          <a:xfrm>
            <a:off x="6400800" y="3941064"/>
            <a:ext cx="310896" cy="310896"/>
          </a:xfrm>
          <a:prstGeom prst="ellipse">
            <a:avLst/>
          </a:prstGeom>
          <a:solidFill>
            <a:srgbClr val="0E5C6B"/>
          </a:solidFill>
          <a:ln w="12700">
            <a:solidFill>
              <a:srgbClr val="0E5C6B"/>
            </a:solidFill>
            <a:prstDash val="solid"/>
          </a:ln>
        </p:spPr>
      </p:sp>
      <p:sp>
        <p:nvSpPr>
          <p:cNvPr id="20" name="d4-insignia"/>
          <p:cNvSpPr txBox="1"/>
          <p:nvPr/>
        </p:nvSpPr>
        <p:spPr>
          <a:xfrm>
            <a:off x="6400800" y="394106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1" name="d4-titulo"/>
          <p:cNvSpPr txBox="1"/>
          <p:nvPr/>
        </p:nvSpPr>
        <p:spPr>
          <a:xfrm>
            <a:off x="6839712" y="3904488"/>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grafana_reader, no el administrador</a:t>
            </a:r>
            <a:endParaRPr lang="en-US" sz="1450" dirty="0"/>
          </a:p>
        </p:txBody>
      </p:sp>
      <p:sp>
        <p:nvSpPr>
          <p:cNvPr id="22" name="d4-cuerpo"/>
          <p:cNvSpPr txBox="1"/>
          <p:nvPr/>
        </p:nvSpPr>
        <p:spPr>
          <a:xfrm>
            <a:off x="6419088" y="4434840"/>
            <a:ext cx="4764024" cy="139903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La capa de visualización solo necesita SELECT, así que ese es el único permiso que tiene.</a:t>
            </a:r>
            <a:endParaRPr lang="en-US" sz="1250" dirty="0"/>
          </a:p>
          <a:p>
            <a:pPr marL="0" indent="0">
              <a:lnSpc>
                <a:spcPct val="112000"/>
              </a:lnSpc>
              <a:buNone/>
            </a:pPr>
            <a:endParaRPr lang="en-US" sz="1250" dirty="0"/>
          </a:p>
          <a:p>
            <a:pPr marL="0" indent="0">
              <a:lnSpc>
                <a:spcPct val="112000"/>
              </a:lnSpc>
              <a:buNone/>
            </a:pPr>
            <a:r>
              <a:rPr lang="en-US" sz="1250" dirty="0">
                <a:solidFill>
                  <a:schemeClr val="tx2"/>
                </a:solidFill>
              </a:rPr>
              <a:t>Si el tablero quedara expuesto, el daño posible se limita a lectura. Mínimo privilegio aplicado donde es barato aplicarlo.</a:t>
            </a:r>
            <a:endParaRPr lang="en-US" sz="1250" dirty="0"/>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5</a:t>
            </a:fld>
            <a:endParaRPr lang="en-US"/>
          </a:p>
        </p:txBody>
      </p:sp>
      <p:cxnSp>
        <p:nvCxnSpPr>
          <p:cNvPr id="24" name="Conector recto 23">
            <a:extLst>
              <a:ext uri="{FF2B5EF4-FFF2-40B4-BE49-F238E27FC236}">
                <a16:creationId xmlns:a16="http://schemas.microsoft.com/office/drawing/2014/main" id="{AF04A2CF-B49C-4D12-9C10-C5C23E3C7F67}"/>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hasCustomPrompt="1"/>
          </p:nvPr>
        </p:nvSpPr>
        <p:spPr>
          <a:xfrm>
            <a:off x="502920" y="160742"/>
            <a:ext cx="10881360" cy="713232"/>
          </a:xfrm>
          <a:prstGeom prst="rect">
            <a:avLst/>
          </a:prstGeom>
          <a:noFill/>
          <a:ln/>
        </p:spPr>
        <p:txBody>
          <a:bodyPr wrap="square" rtlCol="0"/>
          <a:lstStyle/>
          <a:p>
            <a:pPr marL="0" indent="0">
              <a:buNone/>
            </a:pPr>
            <a:r>
              <a:rPr lang="en-US" sz="4000" dirty="0">
                <a:solidFill>
                  <a:schemeClr val="accent6"/>
                </a:solidFill>
              </a:rPr>
              <a:t>Qué se orquesta en Kubernetes y qué no</a:t>
            </a:r>
          </a:p>
        </p:txBody>
      </p:sp>
      <p:sp>
        <p:nvSpPr>
          <p:cNvPr id="3" name="intro"/>
          <p:cNvSpPr txBox="1"/>
          <p:nvPr/>
        </p:nvSpPr>
        <p:spPr>
          <a:xfrm>
            <a:off x="594360" y="1143000"/>
            <a:ext cx="10881360" cy="457200"/>
          </a:xfrm>
          <a:prstGeom prst="rect">
            <a:avLst/>
          </a:prstGeom>
          <a:noFill/>
          <a:ln/>
        </p:spPr>
        <p:txBody>
          <a:bodyPr wrap="square" lIns="0" tIns="0" rIns="0" bIns="0" rtlCol="0" anchor="ctr"/>
          <a:lstStyle/>
          <a:p>
            <a:pPr marL="0" indent="0">
              <a:buNone/>
            </a:pPr>
            <a:r>
              <a:rPr lang="en-US" sz="1600" dirty="0">
                <a:solidFill>
                  <a:schemeClr val="tx2"/>
                </a:solidFill>
              </a:rPr>
              <a:t>Lambda y RDS son servicios administrados: no se integran dentro de un clúster ni tendría sentido intentarlo. Lo que se orquesta es la capa de visualización.</a:t>
            </a:r>
            <a:endParaRPr lang="en-US" sz="1600" dirty="0"/>
          </a:p>
        </p:txBody>
      </p:sp>
      <p:sp>
        <p:nvSpPr>
          <p:cNvPr id="4" name="antes-fondo"/>
          <p:cNvSpPr/>
          <p:nvPr/>
        </p:nvSpPr>
        <p:spPr>
          <a:xfrm>
            <a:off x="594360" y="1783080"/>
            <a:ext cx="5349240" cy="1783080"/>
          </a:xfrm>
          <a:prstGeom prst="roundRect">
            <a:avLst>
              <a:gd name="adj" fmla="val 4103"/>
            </a:avLst>
          </a:prstGeom>
          <a:solidFill>
            <a:schemeClr val="bg2"/>
          </a:solidFill>
          <a:ln w="9525">
            <a:solidFill>
              <a:srgbClr val="D7E0ED"/>
            </a:solidFill>
            <a:prstDash val="solid"/>
          </a:ln>
        </p:spPr>
      </p:sp>
      <p:sp>
        <p:nvSpPr>
          <p:cNvPr id="5" name="antes-circulo"/>
          <p:cNvSpPr/>
          <p:nvPr/>
        </p:nvSpPr>
        <p:spPr>
          <a:xfrm>
            <a:off x="868680" y="2020824"/>
            <a:ext cx="310896" cy="310896"/>
          </a:xfrm>
          <a:prstGeom prst="ellipse">
            <a:avLst/>
          </a:prstGeom>
          <a:solidFill>
            <a:srgbClr val="7A8CA8"/>
          </a:solidFill>
          <a:ln w="12700">
            <a:solidFill>
              <a:srgbClr val="7A8CA8"/>
            </a:solidFill>
            <a:prstDash val="solid"/>
          </a:ln>
        </p:spPr>
      </p:sp>
      <p:sp>
        <p:nvSpPr>
          <p:cNvPr id="6" name="antes-titulo"/>
          <p:cNvSpPr txBox="1"/>
          <p:nvPr/>
        </p:nvSpPr>
        <p:spPr>
          <a:xfrm>
            <a:off x="1307592" y="1984248"/>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Actividad 5 — docker run</a:t>
            </a:r>
            <a:endParaRPr lang="en-US" sz="1450" dirty="0"/>
          </a:p>
        </p:txBody>
      </p:sp>
      <p:sp>
        <p:nvSpPr>
          <p:cNvPr id="7" name="antes-cuerpo"/>
          <p:cNvSpPr txBox="1"/>
          <p:nvPr/>
        </p:nvSpPr>
        <p:spPr>
          <a:xfrm>
            <a:off x="886968" y="2514600"/>
            <a:ext cx="4764024" cy="850392"/>
          </a:xfrm>
          <a:prstGeom prst="rect">
            <a:avLst/>
          </a:prstGeom>
          <a:noFill/>
          <a:ln/>
        </p:spPr>
        <p:txBody>
          <a:bodyPr wrap="square" lIns="0" tIns="0" rIns="0" bIns="0" rtlCol="0" anchor="ctr"/>
          <a:lstStyle/>
          <a:p>
            <a:pPr marL="0" indent="0">
              <a:lnSpc>
                <a:spcPct val="112000"/>
              </a:lnSpc>
              <a:buNone/>
            </a:pPr>
            <a:r>
              <a:rPr lang="en-US" sz="1400" dirty="0">
                <a:solidFill>
                  <a:schemeClr val="tx2"/>
                </a:solidFill>
              </a:rPr>
              <a:t>Contenedor lanzado a mano sobre la EC2. Credenciales como variables de entorno en texto plano. El tablero vivía dentro del contenedor.</a:t>
            </a:r>
            <a:endParaRPr lang="en-US" sz="1400" dirty="0"/>
          </a:p>
        </p:txBody>
      </p:sp>
      <p:sp>
        <p:nvSpPr>
          <p:cNvPr id="8" name="despues-fondo"/>
          <p:cNvSpPr/>
          <p:nvPr/>
        </p:nvSpPr>
        <p:spPr>
          <a:xfrm>
            <a:off x="6126480" y="1783080"/>
            <a:ext cx="5349240" cy="1783080"/>
          </a:xfrm>
          <a:prstGeom prst="roundRect">
            <a:avLst>
              <a:gd name="adj" fmla="val 4103"/>
            </a:avLst>
          </a:prstGeom>
          <a:solidFill>
            <a:schemeClr val="bg2"/>
          </a:solidFill>
          <a:ln w="9525">
            <a:solidFill>
              <a:srgbClr val="D7E0ED"/>
            </a:solidFill>
            <a:prstDash val="solid"/>
          </a:ln>
        </p:spPr>
      </p:sp>
      <p:sp>
        <p:nvSpPr>
          <p:cNvPr id="9" name="despues-circulo"/>
          <p:cNvSpPr/>
          <p:nvPr/>
        </p:nvSpPr>
        <p:spPr>
          <a:xfrm>
            <a:off x="6400800" y="2020824"/>
            <a:ext cx="310896" cy="310896"/>
          </a:xfrm>
          <a:prstGeom prst="ellipse">
            <a:avLst/>
          </a:prstGeom>
          <a:solidFill>
            <a:srgbClr val="1C7293"/>
          </a:solidFill>
          <a:ln w="12700">
            <a:solidFill>
              <a:srgbClr val="1C7293"/>
            </a:solidFill>
            <a:prstDash val="solid"/>
          </a:ln>
        </p:spPr>
      </p:sp>
      <p:sp>
        <p:nvSpPr>
          <p:cNvPr id="10" name="despues-titulo"/>
          <p:cNvSpPr txBox="1"/>
          <p:nvPr/>
        </p:nvSpPr>
        <p:spPr>
          <a:xfrm>
            <a:off x="6839712" y="1984248"/>
            <a:ext cx="4379976" cy="384048"/>
          </a:xfrm>
          <a:prstGeom prst="rect">
            <a:avLst/>
          </a:prstGeom>
          <a:noFill/>
          <a:ln/>
        </p:spPr>
        <p:txBody>
          <a:bodyPr wrap="square" lIns="0" tIns="0" rIns="0" bIns="0" rtlCol="0" anchor="ctr"/>
          <a:lstStyle/>
          <a:p>
            <a:pPr marL="0" indent="0">
              <a:buNone/>
            </a:pPr>
            <a:r>
              <a:rPr lang="en-US" sz="1450" b="1" dirty="0">
                <a:solidFill>
                  <a:srgbClr val="2D3C6E"/>
                </a:solidFill>
              </a:rPr>
              <a:t>Entrega final — release de Helm</a:t>
            </a:r>
            <a:endParaRPr lang="en-US" sz="1450" dirty="0"/>
          </a:p>
        </p:txBody>
      </p:sp>
      <p:sp>
        <p:nvSpPr>
          <p:cNvPr id="11" name="despues-cuerpo"/>
          <p:cNvSpPr txBox="1"/>
          <p:nvPr/>
        </p:nvSpPr>
        <p:spPr>
          <a:xfrm>
            <a:off x="6419088" y="2514600"/>
            <a:ext cx="4764024" cy="850392"/>
          </a:xfrm>
          <a:prstGeom prst="rect">
            <a:avLst/>
          </a:prstGeom>
          <a:noFill/>
          <a:ln/>
        </p:spPr>
        <p:txBody>
          <a:bodyPr wrap="square" lIns="0" tIns="0" rIns="0" bIns="0" rtlCol="0" anchor="ctr"/>
          <a:lstStyle/>
          <a:p>
            <a:pPr marL="0" indent="0">
              <a:lnSpc>
                <a:spcPct val="112000"/>
              </a:lnSpc>
              <a:buNone/>
            </a:pPr>
            <a:r>
              <a:rPr lang="en-US" sz="1400" dirty="0">
                <a:solidFill>
                  <a:schemeClr val="tx2"/>
                </a:solidFill>
              </a:rPr>
              <a:t>Deployment, Service NodePort, dos Secrets y un ConfigMap. Las credenciales se inyectan por referencia; el tablero se monta desde el ConfigMap.</a:t>
            </a:r>
            <a:endParaRPr lang="en-US" sz="1400" dirty="0"/>
          </a:p>
        </p:txBody>
      </p:sp>
      <p:pic>
        <p:nvPicPr>
          <p:cNvPr id="12" name="evidencia" descr="/home/claude/final/img/ev-cluster.png"/>
          <p:cNvPicPr>
            <a:picLocks noChangeAspect="1"/>
          </p:cNvPicPr>
          <p:nvPr/>
        </p:nvPicPr>
        <p:blipFill>
          <a:blip r:embed="rId3"/>
          <a:stretch>
            <a:fillRect/>
          </a:stretch>
        </p:blipFill>
        <p:spPr>
          <a:xfrm>
            <a:off x="594360" y="3749040"/>
            <a:ext cx="6949440" cy="2359152"/>
          </a:xfrm>
          <a:prstGeom prst="rect">
            <a:avLst/>
          </a:prstGeom>
        </p:spPr>
      </p:pic>
      <p:sp>
        <p:nvSpPr>
          <p:cNvPr id="13" name="eks-fondo"/>
          <p:cNvSpPr/>
          <p:nvPr/>
        </p:nvSpPr>
        <p:spPr>
          <a:xfrm>
            <a:off x="7772400" y="3749040"/>
            <a:ext cx="3703320" cy="2359152"/>
          </a:xfrm>
          <a:prstGeom prst="roundRect">
            <a:avLst>
              <a:gd name="adj" fmla="val 3101"/>
            </a:avLst>
          </a:prstGeom>
          <a:solidFill>
            <a:schemeClr val="bg2"/>
          </a:solidFill>
          <a:ln w="9525">
            <a:solidFill>
              <a:srgbClr val="D7E0ED"/>
            </a:solidFill>
            <a:prstDash val="solid"/>
          </a:ln>
        </p:spPr>
      </p:sp>
      <p:sp>
        <p:nvSpPr>
          <p:cNvPr id="14" name="eks-circulo"/>
          <p:cNvSpPr/>
          <p:nvPr/>
        </p:nvSpPr>
        <p:spPr>
          <a:xfrm>
            <a:off x="8046720" y="3986784"/>
            <a:ext cx="310896" cy="310896"/>
          </a:xfrm>
          <a:prstGeom prst="ellipse">
            <a:avLst/>
          </a:prstGeom>
          <a:solidFill>
            <a:srgbClr val="C77B22"/>
          </a:solidFill>
          <a:ln w="12700">
            <a:solidFill>
              <a:srgbClr val="C77B22"/>
            </a:solidFill>
            <a:prstDash val="solid"/>
          </a:ln>
        </p:spPr>
      </p:sp>
      <p:sp>
        <p:nvSpPr>
          <p:cNvPr id="15" name="eks-titulo"/>
          <p:cNvSpPr txBox="1"/>
          <p:nvPr/>
        </p:nvSpPr>
        <p:spPr>
          <a:xfrm>
            <a:off x="8485632" y="3950208"/>
            <a:ext cx="2734056" cy="384048"/>
          </a:xfrm>
          <a:prstGeom prst="rect">
            <a:avLst/>
          </a:prstGeom>
          <a:noFill/>
          <a:ln/>
        </p:spPr>
        <p:txBody>
          <a:bodyPr wrap="square" lIns="0" tIns="0" rIns="0" bIns="0" rtlCol="0" anchor="ctr"/>
          <a:lstStyle/>
          <a:p>
            <a:pPr marL="0" indent="0">
              <a:buNone/>
            </a:pPr>
            <a:r>
              <a:rPr lang="en-US" sz="1450" b="1" dirty="0">
                <a:solidFill>
                  <a:srgbClr val="2D3C6E"/>
                </a:solidFill>
              </a:rPr>
              <a:t>MicroK8s y no EKS</a:t>
            </a:r>
            <a:endParaRPr lang="en-US" sz="1450" dirty="0"/>
          </a:p>
        </p:txBody>
      </p:sp>
      <p:sp>
        <p:nvSpPr>
          <p:cNvPr id="16" name="eks-cuerpo"/>
          <p:cNvSpPr txBox="1"/>
          <p:nvPr/>
        </p:nvSpPr>
        <p:spPr>
          <a:xfrm>
            <a:off x="8065008" y="4480560"/>
            <a:ext cx="3410712" cy="1426464"/>
          </a:xfrm>
          <a:prstGeom prst="rect">
            <a:avLst/>
          </a:prstGeom>
          <a:noFill/>
          <a:ln/>
        </p:spPr>
        <p:txBody>
          <a:bodyPr wrap="square" lIns="0" tIns="0" rIns="0" bIns="0" rtlCol="0" anchor="ctr"/>
          <a:lstStyle/>
          <a:p>
            <a:pPr marL="0" indent="0">
              <a:lnSpc>
                <a:spcPct val="112000"/>
              </a:lnSpc>
              <a:buNone/>
            </a:pPr>
            <a:r>
              <a:rPr lang="en-US" sz="1400" dirty="0">
                <a:solidFill>
                  <a:schemeClr val="tx2"/>
                </a:solidFill>
              </a:rPr>
              <a:t>Un plano de control gestionado de EKS cuesta 73 USD al mes, más que el pipeline entero.</a:t>
            </a:r>
            <a:endParaRPr lang="en-US" sz="1400" dirty="0"/>
          </a:p>
          <a:p>
            <a:pPr marL="0" indent="0">
              <a:lnSpc>
                <a:spcPct val="112000"/>
              </a:lnSpc>
              <a:buNone/>
            </a:pPr>
            <a:endParaRPr lang="en-US" sz="1400" dirty="0"/>
          </a:p>
          <a:p>
            <a:pPr marL="0" indent="0">
              <a:lnSpc>
                <a:spcPct val="112000"/>
              </a:lnSpc>
              <a:buNone/>
            </a:pPr>
            <a:r>
              <a:rPr lang="en-US" sz="1400" dirty="0">
                <a:solidFill>
                  <a:schemeClr val="tx2"/>
                </a:solidFill>
              </a:rPr>
              <a:t>MicroK8s corre en la misma instancia: su costo marginal son los 15,19 USD de subir a t3.medium.</a:t>
            </a:r>
            <a:endParaRPr lang="en-US" sz="1400" dirty="0"/>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6</a:t>
            </a:fld>
            <a:endParaRPr lang="en-US"/>
          </a:p>
        </p:txBody>
      </p:sp>
      <p:cxnSp>
        <p:nvCxnSpPr>
          <p:cNvPr id="18" name="Conector recto 17">
            <a:extLst>
              <a:ext uri="{FF2B5EF4-FFF2-40B4-BE49-F238E27FC236}">
                <a16:creationId xmlns:a16="http://schemas.microsoft.com/office/drawing/2014/main" id="{29CA9122-D1EB-4D05-B1E2-A8B41A0D8824}"/>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hasCustomPrompt="1"/>
          </p:nvPr>
        </p:nvSpPr>
        <p:spPr>
          <a:xfrm>
            <a:off x="338328" y="133791"/>
            <a:ext cx="10881360" cy="713232"/>
          </a:xfrm>
          <a:prstGeom prst="rect">
            <a:avLst/>
          </a:prstGeom>
          <a:noFill/>
          <a:ln/>
        </p:spPr>
        <p:txBody>
          <a:bodyPr wrap="square" rtlCol="0"/>
          <a:lstStyle/>
          <a:p>
            <a:pPr marL="0" indent="0">
              <a:buNone/>
            </a:pPr>
            <a:r>
              <a:rPr lang="en-US" sz="4000" dirty="0">
                <a:solidFill>
                  <a:schemeClr val="accent6"/>
                </a:solidFill>
              </a:rPr>
              <a:t>Lo que el tablero convierte en decisión</a:t>
            </a:r>
          </a:p>
        </p:txBody>
      </p:sp>
      <p:pic>
        <p:nvPicPr>
          <p:cNvPr id="3" name="dash" descr="/home/claude/final/img/ev-dashboard-k8s.png"/>
          <p:cNvPicPr>
            <a:picLocks noChangeAspect="1"/>
          </p:cNvPicPr>
          <p:nvPr/>
        </p:nvPicPr>
        <p:blipFill>
          <a:blip r:embed="rId3"/>
          <a:stretch>
            <a:fillRect/>
          </a:stretch>
        </p:blipFill>
        <p:spPr>
          <a:xfrm>
            <a:off x="594360" y="1188720"/>
            <a:ext cx="6675120" cy="3264408"/>
          </a:xfrm>
          <a:prstGeom prst="rect">
            <a:avLst/>
          </a:prstGeom>
        </p:spPr>
      </p:pic>
      <p:sp>
        <p:nvSpPr>
          <p:cNvPr id="4" name="v1-num"/>
          <p:cNvSpPr txBox="1"/>
          <p:nvPr/>
        </p:nvSpPr>
        <p:spPr>
          <a:xfrm>
            <a:off x="7635240" y="1143000"/>
            <a:ext cx="1920240" cy="868680"/>
          </a:xfrm>
          <a:prstGeom prst="rect">
            <a:avLst/>
          </a:prstGeom>
          <a:noFill/>
          <a:ln/>
        </p:spPr>
        <p:txBody>
          <a:bodyPr wrap="square" lIns="0" tIns="0" rIns="0" bIns="0" rtlCol="0" anchor="ctr"/>
          <a:lstStyle/>
          <a:p>
            <a:pPr marL="0" indent="0" algn="l">
              <a:buNone/>
            </a:pPr>
            <a:r>
              <a:rPr lang="en-US" sz="4600" b="1" dirty="0">
                <a:solidFill>
                  <a:srgbClr val="C77B22"/>
                </a:solidFill>
                <a:latin typeface="Cambria" pitchFamily="34" charset="0"/>
                <a:ea typeface="Cambria" pitchFamily="34" charset="-122"/>
                <a:cs typeface="Cambria" pitchFamily="34" charset="-120"/>
              </a:rPr>
              <a:t>47,8 %</a:t>
            </a:r>
            <a:endParaRPr lang="en-US" sz="4600" dirty="0"/>
          </a:p>
        </p:txBody>
      </p:sp>
      <p:sp>
        <p:nvSpPr>
          <p:cNvPr id="5" name="v1-lbl"/>
          <p:cNvSpPr txBox="1"/>
          <p:nvPr/>
        </p:nvSpPr>
        <p:spPr>
          <a:xfrm>
            <a:off x="7635240" y="2011680"/>
            <a:ext cx="1920240" cy="640080"/>
          </a:xfrm>
          <a:prstGeom prst="rect">
            <a:avLst/>
          </a:prstGeom>
          <a:noFill/>
          <a:ln/>
        </p:spPr>
        <p:txBody>
          <a:bodyPr wrap="square" lIns="0" tIns="0" rIns="0" bIns="0" rtlCol="0" anchor="ctr"/>
          <a:lstStyle/>
          <a:p>
            <a:pPr marL="0" indent="0" algn="l">
              <a:buNone/>
            </a:pPr>
            <a:r>
              <a:rPr lang="en-US" sz="1200" dirty="0">
                <a:solidFill>
                  <a:schemeClr val="tx2"/>
                </a:solidFill>
              </a:rPr>
              <a:t>de la oferta en solo</a:t>
            </a:r>
            <a:endParaRPr lang="en-US" sz="1200" dirty="0"/>
          </a:p>
          <a:p>
            <a:pPr marL="0" indent="0" algn="l">
              <a:buNone/>
            </a:pPr>
            <a:r>
              <a:rPr lang="en-US" sz="1200" dirty="0">
                <a:solidFill>
                  <a:schemeClr val="tx2"/>
                </a:solidFill>
              </a:rPr>
              <a:t>5 celdas</a:t>
            </a:r>
            <a:endParaRPr lang="en-US" sz="1200" dirty="0"/>
          </a:p>
        </p:txBody>
      </p:sp>
      <p:sp>
        <p:nvSpPr>
          <p:cNvPr id="6" name="v2-num"/>
          <p:cNvSpPr txBox="1"/>
          <p:nvPr/>
        </p:nvSpPr>
        <p:spPr>
          <a:xfrm>
            <a:off x="10260529" y="1171875"/>
            <a:ext cx="1920240" cy="868680"/>
          </a:xfrm>
          <a:prstGeom prst="rect">
            <a:avLst/>
          </a:prstGeom>
          <a:noFill/>
          <a:ln/>
        </p:spPr>
        <p:txBody>
          <a:bodyPr wrap="square" lIns="0" tIns="0" rIns="0" bIns="0" rtlCol="0" anchor="ctr"/>
          <a:lstStyle/>
          <a:p>
            <a:pPr marL="0" indent="0" algn="l">
              <a:buNone/>
            </a:pPr>
            <a:r>
              <a:rPr lang="en-US" sz="4600" b="1" dirty="0">
                <a:solidFill>
                  <a:srgbClr val="1C7293"/>
                </a:solidFill>
                <a:latin typeface="Cambria" pitchFamily="34" charset="0"/>
                <a:ea typeface="Cambria" pitchFamily="34" charset="-122"/>
                <a:cs typeface="Cambria" pitchFamily="34" charset="-120"/>
              </a:rPr>
              <a:t>40</a:t>
            </a:r>
            <a:endParaRPr lang="en-US" sz="4600" dirty="0"/>
          </a:p>
        </p:txBody>
      </p:sp>
      <p:sp>
        <p:nvSpPr>
          <p:cNvPr id="7" name="v2-lbl"/>
          <p:cNvSpPr txBox="1"/>
          <p:nvPr/>
        </p:nvSpPr>
        <p:spPr>
          <a:xfrm>
            <a:off x="10260529" y="2040555"/>
            <a:ext cx="1920240" cy="640080"/>
          </a:xfrm>
          <a:prstGeom prst="rect">
            <a:avLst/>
          </a:prstGeom>
          <a:noFill/>
          <a:ln/>
        </p:spPr>
        <p:txBody>
          <a:bodyPr wrap="square" lIns="0" tIns="0" rIns="0" bIns="0" rtlCol="0" anchor="ctr"/>
          <a:lstStyle/>
          <a:p>
            <a:pPr marL="0" indent="0" algn="l">
              <a:buNone/>
            </a:pPr>
            <a:r>
              <a:rPr lang="en-US" sz="1200" dirty="0">
                <a:solidFill>
                  <a:schemeClr val="tx2"/>
                </a:solidFill>
              </a:rPr>
              <a:t>celdas sin ninguna</a:t>
            </a:r>
            <a:endParaRPr lang="en-US" sz="1200" dirty="0"/>
          </a:p>
          <a:p>
            <a:pPr marL="0" indent="0" algn="l">
              <a:buNone/>
            </a:pPr>
            <a:r>
              <a:rPr lang="en-US" sz="1200" dirty="0">
                <a:solidFill>
                  <a:schemeClr val="tx2"/>
                </a:solidFill>
              </a:rPr>
              <a:t>cafetería</a:t>
            </a:r>
            <a:endParaRPr lang="en-US" sz="1200" dirty="0"/>
          </a:p>
        </p:txBody>
      </p:sp>
      <p:sp>
        <p:nvSpPr>
          <p:cNvPr id="8" name="v3-num"/>
          <p:cNvSpPr txBox="1"/>
          <p:nvPr/>
        </p:nvSpPr>
        <p:spPr>
          <a:xfrm>
            <a:off x="7635240" y="2834640"/>
            <a:ext cx="1920240" cy="868680"/>
          </a:xfrm>
          <a:prstGeom prst="rect">
            <a:avLst/>
          </a:prstGeom>
          <a:noFill/>
          <a:ln/>
        </p:spPr>
        <p:txBody>
          <a:bodyPr wrap="square" lIns="0" tIns="0" rIns="0" bIns="0" rtlCol="0" anchor="ctr"/>
          <a:lstStyle/>
          <a:p>
            <a:pPr marL="0" indent="0" algn="l">
              <a:buNone/>
            </a:pPr>
            <a:r>
              <a:rPr lang="en-US" sz="4600" b="1" dirty="0">
                <a:solidFill>
                  <a:srgbClr val="4A8FD4"/>
                </a:solidFill>
                <a:latin typeface="Cambria" pitchFamily="34" charset="0"/>
                <a:ea typeface="Cambria" pitchFamily="34" charset="-122"/>
                <a:cs typeface="Cambria" pitchFamily="34" charset="-120"/>
              </a:rPr>
              <a:t>19,6 %</a:t>
            </a:r>
            <a:endParaRPr lang="en-US" sz="4600" dirty="0"/>
          </a:p>
        </p:txBody>
      </p:sp>
      <p:sp>
        <p:nvSpPr>
          <p:cNvPr id="9" name="v3-lbl"/>
          <p:cNvSpPr txBox="1"/>
          <p:nvPr/>
        </p:nvSpPr>
        <p:spPr>
          <a:xfrm>
            <a:off x="7635240" y="3703320"/>
            <a:ext cx="1920240" cy="640080"/>
          </a:xfrm>
          <a:prstGeom prst="rect">
            <a:avLst/>
          </a:prstGeom>
          <a:noFill/>
          <a:ln/>
        </p:spPr>
        <p:txBody>
          <a:bodyPr wrap="square" lIns="0" tIns="0" rIns="0" bIns="0" rtlCol="0" anchor="ctr"/>
          <a:lstStyle/>
          <a:p>
            <a:pPr marL="0" indent="0" algn="l">
              <a:buNone/>
            </a:pPr>
            <a:r>
              <a:rPr lang="en-US" sz="1200" dirty="0">
                <a:solidFill>
                  <a:schemeClr val="tx2"/>
                </a:solidFill>
              </a:rPr>
              <a:t>opera un formato</a:t>
            </a:r>
            <a:endParaRPr lang="en-US" sz="1200" dirty="0"/>
          </a:p>
          <a:p>
            <a:pPr marL="0" indent="0" algn="l">
              <a:buNone/>
            </a:pPr>
            <a:r>
              <a:rPr lang="en-US" sz="1200" dirty="0">
                <a:solidFill>
                  <a:schemeClr val="tx2"/>
                </a:solidFill>
              </a:rPr>
              <a:t>híbrido</a:t>
            </a:r>
            <a:endParaRPr lang="en-US" sz="1200" dirty="0"/>
          </a:p>
        </p:txBody>
      </p:sp>
      <p:sp>
        <p:nvSpPr>
          <p:cNvPr id="10" name="v4-num"/>
          <p:cNvSpPr txBox="1"/>
          <p:nvPr/>
        </p:nvSpPr>
        <p:spPr>
          <a:xfrm>
            <a:off x="10153850" y="2818278"/>
            <a:ext cx="1920240" cy="868680"/>
          </a:xfrm>
          <a:prstGeom prst="rect">
            <a:avLst/>
          </a:prstGeom>
          <a:noFill/>
          <a:ln/>
        </p:spPr>
        <p:txBody>
          <a:bodyPr wrap="square" lIns="0" tIns="0" rIns="0" bIns="0" rtlCol="0" anchor="ctr"/>
          <a:lstStyle/>
          <a:p>
            <a:pPr marL="0" indent="0" algn="l">
              <a:buNone/>
            </a:pPr>
            <a:r>
              <a:rPr lang="en-US" sz="4600" b="1" dirty="0">
                <a:solidFill>
                  <a:srgbClr val="2D3C6E"/>
                </a:solidFill>
                <a:latin typeface="Cambria" pitchFamily="34" charset="0"/>
                <a:ea typeface="Cambria" pitchFamily="34" charset="-122"/>
                <a:cs typeface="Cambria" pitchFamily="34" charset="-120"/>
              </a:rPr>
              <a:t>1.329</a:t>
            </a:r>
            <a:endParaRPr lang="en-US" sz="4600" dirty="0"/>
          </a:p>
        </p:txBody>
      </p:sp>
      <p:sp>
        <p:nvSpPr>
          <p:cNvPr id="11" name="v4-lbl"/>
          <p:cNvSpPr txBox="1"/>
          <p:nvPr/>
        </p:nvSpPr>
        <p:spPr>
          <a:xfrm>
            <a:off x="10153850" y="3686958"/>
            <a:ext cx="1920240" cy="640080"/>
          </a:xfrm>
          <a:prstGeom prst="rect">
            <a:avLst/>
          </a:prstGeom>
          <a:noFill/>
          <a:ln/>
        </p:spPr>
        <p:txBody>
          <a:bodyPr wrap="square" lIns="0" tIns="0" rIns="0" bIns="0" rtlCol="0" anchor="ctr"/>
          <a:lstStyle/>
          <a:p>
            <a:pPr marL="0" indent="0" algn="l">
              <a:buNone/>
            </a:pPr>
            <a:r>
              <a:rPr lang="en-US" sz="1200" dirty="0">
                <a:solidFill>
                  <a:schemeClr val="tx2"/>
                </a:solidFill>
              </a:rPr>
              <a:t>metros de distancia</a:t>
            </a:r>
            <a:endParaRPr lang="en-US" sz="1200" dirty="0"/>
          </a:p>
          <a:p>
            <a:pPr marL="0" indent="0" algn="l">
              <a:buNone/>
            </a:pPr>
            <a:r>
              <a:rPr lang="en-US" sz="1200" dirty="0">
                <a:solidFill>
                  <a:schemeClr val="tx2"/>
                </a:solidFill>
              </a:rPr>
              <a:t>mediana al centro</a:t>
            </a:r>
            <a:endParaRPr lang="en-US" sz="1200" dirty="0"/>
          </a:p>
        </p:txBody>
      </p:sp>
      <p:sp>
        <p:nvSpPr>
          <p:cNvPr id="12" name="dec-fondo"/>
          <p:cNvSpPr/>
          <p:nvPr/>
        </p:nvSpPr>
        <p:spPr>
          <a:xfrm>
            <a:off x="594360" y="4617720"/>
            <a:ext cx="10881360" cy="1463040"/>
          </a:xfrm>
          <a:prstGeom prst="roundRect">
            <a:avLst>
              <a:gd name="adj" fmla="val 5000"/>
            </a:avLst>
          </a:prstGeom>
          <a:solidFill>
            <a:schemeClr val="bg2"/>
          </a:solidFill>
          <a:ln w="9525">
            <a:solidFill>
              <a:srgbClr val="D7E0ED"/>
            </a:solidFill>
            <a:prstDash val="solid"/>
          </a:ln>
        </p:spPr>
      </p:sp>
      <p:sp>
        <p:nvSpPr>
          <p:cNvPr id="13" name="dec-circulo"/>
          <p:cNvSpPr/>
          <p:nvPr/>
        </p:nvSpPr>
        <p:spPr>
          <a:xfrm>
            <a:off x="868680" y="4855464"/>
            <a:ext cx="310896" cy="310896"/>
          </a:xfrm>
          <a:prstGeom prst="ellipse">
            <a:avLst/>
          </a:prstGeom>
          <a:solidFill>
            <a:srgbClr val="2D3C6E"/>
          </a:solidFill>
          <a:ln w="12700">
            <a:solidFill>
              <a:srgbClr val="2D3C6E"/>
            </a:solidFill>
            <a:prstDash val="solid"/>
          </a:ln>
        </p:spPr>
      </p:sp>
      <p:sp>
        <p:nvSpPr>
          <p:cNvPr id="14" name="dec-titulo"/>
          <p:cNvSpPr txBox="1"/>
          <p:nvPr/>
        </p:nvSpPr>
        <p:spPr>
          <a:xfrm>
            <a:off x="1307592" y="4818888"/>
            <a:ext cx="9912096" cy="384048"/>
          </a:xfrm>
          <a:prstGeom prst="rect">
            <a:avLst/>
          </a:prstGeom>
          <a:noFill/>
          <a:ln/>
        </p:spPr>
        <p:txBody>
          <a:bodyPr wrap="square" lIns="0" tIns="0" rIns="0" bIns="0" rtlCol="0" anchor="ctr"/>
          <a:lstStyle/>
          <a:p>
            <a:pPr marL="0" indent="0">
              <a:buNone/>
            </a:pPr>
            <a:r>
              <a:rPr lang="en-US" sz="1600" b="1" dirty="0">
                <a:solidFill>
                  <a:srgbClr val="2D3C6E"/>
                </a:solidFill>
              </a:rPr>
              <a:t>Cuatro decisiones que habilita</a:t>
            </a:r>
            <a:endParaRPr lang="en-US" sz="1600" dirty="0"/>
          </a:p>
        </p:txBody>
      </p:sp>
      <p:sp>
        <p:nvSpPr>
          <p:cNvPr id="15" name="dec-cuerpo"/>
          <p:cNvSpPr txBox="1"/>
          <p:nvPr/>
        </p:nvSpPr>
        <p:spPr>
          <a:xfrm>
            <a:off x="886968" y="5349240"/>
            <a:ext cx="10296144" cy="530352"/>
          </a:xfrm>
          <a:prstGeom prst="rect">
            <a:avLst/>
          </a:prstGeom>
          <a:noFill/>
          <a:ln/>
        </p:spPr>
        <p:txBody>
          <a:bodyPr wrap="square" lIns="0" tIns="0" rIns="0" bIns="0" rtlCol="0" anchor="ctr"/>
          <a:lstStyle/>
          <a:p>
            <a:pPr marL="0" indent="0">
              <a:lnSpc>
                <a:spcPct val="112000"/>
              </a:lnSpc>
              <a:buNone/>
            </a:pPr>
            <a:r>
              <a:rPr lang="en-US" sz="1400" dirty="0">
                <a:solidFill>
                  <a:schemeClr val="tx2"/>
                </a:solidFill>
              </a:rPr>
              <a:t>Dónde abrir sin enfrentar saturación  ·  Qué corredores evitar porque una cadena con escala ya capturó la demanda  ·  Con qué formato diferenciarse donde la competencia es directa  ·  Cómo leer el poder de negociación de las tres cadenas dominantes</a:t>
            </a:r>
            <a:endParaRPr lang="en-US" sz="1400" dirty="0"/>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7</a:t>
            </a:fld>
            <a:endParaRPr lang="en-US"/>
          </a:p>
        </p:txBody>
      </p:sp>
      <p:cxnSp>
        <p:nvCxnSpPr>
          <p:cNvPr id="17" name="Conector recto 16">
            <a:extLst>
              <a:ext uri="{FF2B5EF4-FFF2-40B4-BE49-F238E27FC236}">
                <a16:creationId xmlns:a16="http://schemas.microsoft.com/office/drawing/2014/main" id="{377FE26C-776E-46A0-B01E-F6F70D2FE0B3}"/>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
        <p:nvSpPr>
          <p:cNvPr id="18" name="Rectángulo: esquinas redondeadas 17">
            <a:extLst>
              <a:ext uri="{FF2B5EF4-FFF2-40B4-BE49-F238E27FC236}">
                <a16:creationId xmlns:a16="http://schemas.microsoft.com/office/drawing/2014/main" id="{793126DC-3720-4310-A9BF-4BBBFDDC9913}"/>
              </a:ext>
            </a:extLst>
          </p:cNvPr>
          <p:cNvSpPr/>
          <p:nvPr/>
        </p:nvSpPr>
        <p:spPr>
          <a:xfrm>
            <a:off x="7346482" y="1184870"/>
            <a:ext cx="22089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esquinas redondeadas 18">
            <a:extLst>
              <a:ext uri="{FF2B5EF4-FFF2-40B4-BE49-F238E27FC236}">
                <a16:creationId xmlns:a16="http://schemas.microsoft.com/office/drawing/2014/main" id="{0266314A-4D43-475E-9D35-82FB7A7A5299}"/>
              </a:ext>
            </a:extLst>
          </p:cNvPr>
          <p:cNvSpPr/>
          <p:nvPr/>
        </p:nvSpPr>
        <p:spPr>
          <a:xfrm>
            <a:off x="9707880" y="1164978"/>
            <a:ext cx="22089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esquinas redondeadas 19">
            <a:extLst>
              <a:ext uri="{FF2B5EF4-FFF2-40B4-BE49-F238E27FC236}">
                <a16:creationId xmlns:a16="http://schemas.microsoft.com/office/drawing/2014/main" id="{47F5ED1F-818A-45CF-A5E3-6179815FF5C2}"/>
              </a:ext>
            </a:extLst>
          </p:cNvPr>
          <p:cNvSpPr/>
          <p:nvPr/>
        </p:nvSpPr>
        <p:spPr>
          <a:xfrm>
            <a:off x="7415062" y="2856779"/>
            <a:ext cx="22089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esquinas redondeadas 20">
            <a:extLst>
              <a:ext uri="{FF2B5EF4-FFF2-40B4-BE49-F238E27FC236}">
                <a16:creationId xmlns:a16="http://schemas.microsoft.com/office/drawing/2014/main" id="{E08CFFB2-A8E2-4EF1-B312-72DD19EFD261}"/>
              </a:ext>
            </a:extLst>
          </p:cNvPr>
          <p:cNvSpPr/>
          <p:nvPr/>
        </p:nvSpPr>
        <p:spPr>
          <a:xfrm>
            <a:off x="9788090" y="2798064"/>
            <a:ext cx="2208998" cy="1408176"/>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hasCustomPrompt="1"/>
          </p:nvPr>
        </p:nvSpPr>
        <p:spPr>
          <a:xfrm>
            <a:off x="165711" y="80852"/>
            <a:ext cx="10881360" cy="713232"/>
          </a:xfrm>
          <a:prstGeom prst="rect">
            <a:avLst/>
          </a:prstGeom>
          <a:noFill/>
          <a:ln/>
        </p:spPr>
        <p:txBody>
          <a:bodyPr wrap="square" rtlCol="0"/>
          <a:lstStyle/>
          <a:p>
            <a:pPr marL="0" indent="0">
              <a:buNone/>
            </a:pPr>
            <a:r>
              <a:rPr lang="en-US" sz="3600" dirty="0">
                <a:solidFill>
                  <a:schemeClr val="accent6"/>
                </a:solidFill>
              </a:rPr>
              <a:t>Dónde está el gasto y qué palanca lo controla</a:t>
            </a:r>
          </a:p>
        </p:txBody>
      </p:sp>
      <p:graphicFrame>
        <p:nvGraphicFramePr>
          <p:cNvPr id="3" name="grafico-costos"/>
          <p:cNvGraphicFramePr/>
          <p:nvPr/>
        </p:nvGraphicFramePr>
        <p:xfrm>
          <a:off x="594360" y="118872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f1-fondo"/>
          <p:cNvSpPr/>
          <p:nvPr/>
        </p:nvSpPr>
        <p:spPr>
          <a:xfrm>
            <a:off x="7635240" y="1188720"/>
            <a:ext cx="3840480" cy="1691640"/>
          </a:xfrm>
          <a:prstGeom prst="roundRect">
            <a:avLst>
              <a:gd name="adj" fmla="val 4324"/>
            </a:avLst>
          </a:prstGeom>
          <a:solidFill>
            <a:schemeClr val="bg2"/>
          </a:solidFill>
          <a:ln w="9525">
            <a:solidFill>
              <a:srgbClr val="D7E0ED"/>
            </a:solidFill>
            <a:prstDash val="solid"/>
          </a:ln>
        </p:spPr>
      </p:sp>
      <p:sp>
        <p:nvSpPr>
          <p:cNvPr id="5" name="f1-circulo"/>
          <p:cNvSpPr/>
          <p:nvPr/>
        </p:nvSpPr>
        <p:spPr>
          <a:xfrm>
            <a:off x="7909560" y="1426464"/>
            <a:ext cx="310896" cy="310896"/>
          </a:xfrm>
          <a:prstGeom prst="ellipse">
            <a:avLst/>
          </a:prstGeom>
          <a:solidFill>
            <a:srgbClr val="2D3C6E"/>
          </a:solidFill>
          <a:ln w="12700">
            <a:solidFill>
              <a:srgbClr val="2D3C6E"/>
            </a:solidFill>
            <a:prstDash val="solid"/>
          </a:ln>
        </p:spPr>
      </p:sp>
      <p:sp>
        <p:nvSpPr>
          <p:cNvPr id="6" name="f1-titulo"/>
          <p:cNvSpPr txBox="1"/>
          <p:nvPr/>
        </p:nvSpPr>
        <p:spPr>
          <a:xfrm>
            <a:off x="8348472" y="1389888"/>
            <a:ext cx="2871216" cy="384048"/>
          </a:xfrm>
          <a:prstGeom prst="rect">
            <a:avLst/>
          </a:prstGeom>
          <a:noFill/>
          <a:ln/>
        </p:spPr>
        <p:txBody>
          <a:bodyPr wrap="square" lIns="0" tIns="0" rIns="0" bIns="0" rtlCol="0" anchor="ctr"/>
          <a:lstStyle/>
          <a:p>
            <a:pPr marL="0" indent="0">
              <a:buNone/>
            </a:pPr>
            <a:r>
              <a:rPr lang="en-US" sz="1450" b="1" dirty="0">
                <a:solidFill>
                  <a:srgbClr val="2D3C6E"/>
                </a:solidFill>
              </a:rPr>
              <a:t>91,8 % es cómputo</a:t>
            </a:r>
            <a:endParaRPr lang="en-US" sz="1450" dirty="0"/>
          </a:p>
        </p:txBody>
      </p:sp>
      <p:sp>
        <p:nvSpPr>
          <p:cNvPr id="7" name="f1-cuerpo"/>
          <p:cNvSpPr txBox="1"/>
          <p:nvPr/>
        </p:nvSpPr>
        <p:spPr>
          <a:xfrm>
            <a:off x="7927848" y="1920240"/>
            <a:ext cx="3255264" cy="75895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Las dos instancias suman 43,51 de los 47,41 USD. Almacenamiento, ingesta y observabilidad son marginales.</a:t>
            </a:r>
            <a:endParaRPr lang="en-US" sz="1250" dirty="0"/>
          </a:p>
        </p:txBody>
      </p:sp>
      <p:sp>
        <p:nvSpPr>
          <p:cNvPr id="8" name="f2-fondo"/>
          <p:cNvSpPr/>
          <p:nvPr/>
        </p:nvSpPr>
        <p:spPr>
          <a:xfrm>
            <a:off x="7635240" y="3017520"/>
            <a:ext cx="3840480" cy="1691640"/>
          </a:xfrm>
          <a:prstGeom prst="roundRect">
            <a:avLst>
              <a:gd name="adj" fmla="val 4324"/>
            </a:avLst>
          </a:prstGeom>
          <a:solidFill>
            <a:schemeClr val="bg2"/>
          </a:solidFill>
          <a:ln w="9525">
            <a:solidFill>
              <a:srgbClr val="D7E0ED"/>
            </a:solidFill>
            <a:prstDash val="solid"/>
          </a:ln>
        </p:spPr>
      </p:sp>
      <p:sp>
        <p:nvSpPr>
          <p:cNvPr id="9" name="f2-circulo"/>
          <p:cNvSpPr/>
          <p:nvPr/>
        </p:nvSpPr>
        <p:spPr>
          <a:xfrm>
            <a:off x="7909560" y="3255264"/>
            <a:ext cx="310896" cy="310896"/>
          </a:xfrm>
          <a:prstGeom prst="ellipse">
            <a:avLst/>
          </a:prstGeom>
          <a:solidFill>
            <a:srgbClr val="1C7293"/>
          </a:solidFill>
          <a:ln w="12700">
            <a:solidFill>
              <a:srgbClr val="1C7293"/>
            </a:solidFill>
            <a:prstDash val="solid"/>
          </a:ln>
        </p:spPr>
      </p:sp>
      <p:sp>
        <p:nvSpPr>
          <p:cNvPr id="10" name="f2-titulo"/>
          <p:cNvSpPr txBox="1"/>
          <p:nvPr/>
        </p:nvSpPr>
        <p:spPr>
          <a:xfrm>
            <a:off x="8348472" y="3218688"/>
            <a:ext cx="2871216" cy="384048"/>
          </a:xfrm>
          <a:prstGeom prst="rect">
            <a:avLst/>
          </a:prstGeom>
          <a:noFill/>
          <a:ln/>
        </p:spPr>
        <p:txBody>
          <a:bodyPr wrap="square" lIns="0" tIns="0" rIns="0" bIns="0" rtlCol="0" anchor="ctr"/>
          <a:lstStyle/>
          <a:p>
            <a:pPr marL="0" indent="0">
              <a:buNone/>
            </a:pPr>
            <a:r>
              <a:rPr lang="en-US" sz="1450" b="1" dirty="0">
                <a:solidFill>
                  <a:srgbClr val="2D3C6E"/>
                </a:solidFill>
              </a:rPr>
              <a:t>La capa serverless es gratis</a:t>
            </a:r>
            <a:endParaRPr lang="en-US" sz="1450" dirty="0"/>
          </a:p>
        </p:txBody>
      </p:sp>
      <p:sp>
        <p:nvSpPr>
          <p:cNvPr id="11" name="f2-cuerpo"/>
          <p:cNvSpPr txBox="1"/>
          <p:nvPr/>
        </p:nvSpPr>
        <p:spPr>
          <a:xfrm>
            <a:off x="7927848" y="3749040"/>
            <a:ext cx="3255264" cy="75895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El mismo trabajo sobre una instancia encendida habría costado unos 15 USD al mes. Aquí cuesta cero.</a:t>
            </a:r>
            <a:endParaRPr lang="en-US" sz="1250" dirty="0"/>
          </a:p>
        </p:txBody>
      </p:sp>
      <p:sp>
        <p:nvSpPr>
          <p:cNvPr id="12" name="f3-fondo"/>
          <p:cNvSpPr/>
          <p:nvPr/>
        </p:nvSpPr>
        <p:spPr>
          <a:xfrm>
            <a:off x="7635240" y="4846320"/>
            <a:ext cx="3840480" cy="1234440"/>
          </a:xfrm>
          <a:prstGeom prst="roundRect">
            <a:avLst>
              <a:gd name="adj" fmla="val 5926"/>
            </a:avLst>
          </a:prstGeom>
          <a:solidFill>
            <a:schemeClr val="bg2"/>
          </a:solidFill>
          <a:ln w="9525">
            <a:solidFill>
              <a:srgbClr val="D7E0ED"/>
            </a:solidFill>
            <a:prstDash val="solid"/>
          </a:ln>
        </p:spPr>
      </p:sp>
      <p:sp>
        <p:nvSpPr>
          <p:cNvPr id="13" name="f3-circulo"/>
          <p:cNvSpPr/>
          <p:nvPr/>
        </p:nvSpPr>
        <p:spPr>
          <a:xfrm>
            <a:off x="7909560" y="5084064"/>
            <a:ext cx="310896" cy="310896"/>
          </a:xfrm>
          <a:prstGeom prst="ellipse">
            <a:avLst/>
          </a:prstGeom>
          <a:solidFill>
            <a:srgbClr val="C77B22"/>
          </a:solidFill>
          <a:ln w="12700">
            <a:solidFill>
              <a:srgbClr val="C77B22"/>
            </a:solidFill>
            <a:prstDash val="solid"/>
          </a:ln>
        </p:spPr>
      </p:sp>
      <p:sp>
        <p:nvSpPr>
          <p:cNvPr id="14" name="f3-titulo"/>
          <p:cNvSpPr txBox="1"/>
          <p:nvPr/>
        </p:nvSpPr>
        <p:spPr>
          <a:xfrm>
            <a:off x="8348472" y="5047488"/>
            <a:ext cx="2871216" cy="384048"/>
          </a:xfrm>
          <a:prstGeom prst="rect">
            <a:avLst/>
          </a:prstGeom>
          <a:noFill/>
          <a:ln/>
        </p:spPr>
        <p:txBody>
          <a:bodyPr wrap="square" lIns="0" tIns="0" rIns="0" bIns="0" rtlCol="0" anchor="ctr"/>
          <a:lstStyle/>
          <a:p>
            <a:pPr marL="0" indent="0">
              <a:buNone/>
            </a:pPr>
            <a:r>
              <a:rPr lang="en-US" sz="1450" b="1" dirty="0">
                <a:solidFill>
                  <a:srgbClr val="2D3C6E"/>
                </a:solidFill>
              </a:rPr>
              <a:t>La palanca es el apagado</a:t>
            </a:r>
            <a:endParaRPr lang="en-US" sz="1450" dirty="0"/>
          </a:p>
        </p:txBody>
      </p:sp>
      <p:sp>
        <p:nvSpPr>
          <p:cNvPr id="15" name="f3-cuerpo"/>
          <p:cNvSpPr txBox="1"/>
          <p:nvPr/>
        </p:nvSpPr>
        <p:spPr>
          <a:xfrm>
            <a:off x="7927848" y="5577840"/>
            <a:ext cx="3255264" cy="301752"/>
          </a:xfrm>
          <a:prstGeom prst="rect">
            <a:avLst/>
          </a:prstGeom>
          <a:noFill/>
          <a:ln/>
        </p:spPr>
        <p:txBody>
          <a:bodyPr wrap="square" lIns="0" tIns="0" rIns="0" bIns="0" rtlCol="0" anchor="ctr"/>
          <a:lstStyle/>
          <a:p>
            <a:pPr marL="0" indent="0">
              <a:lnSpc>
                <a:spcPct val="112000"/>
              </a:lnSpc>
              <a:buNone/>
            </a:pPr>
            <a:r>
              <a:rPr lang="en-US" sz="1250" dirty="0">
                <a:solidFill>
                  <a:schemeClr val="tx2"/>
                </a:solidFill>
              </a:rPr>
              <a:t>Apagar fuera de horario laboral: de 31,97 a 12,58 USD, sin rediseñar nada.</a:t>
            </a:r>
            <a:endParaRPr lang="en-US" sz="1250" dirty="0"/>
          </a:p>
        </p:txBody>
      </p:sp>
      <p:sp>
        <p:nvSpPr>
          <p:cNvPr id="25"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8</a:t>
            </a:fld>
            <a:endParaRPr lang="en-US"/>
          </a:p>
        </p:txBody>
      </p:sp>
      <p:cxnSp>
        <p:nvCxnSpPr>
          <p:cNvPr id="17" name="Conector recto 16">
            <a:extLst>
              <a:ext uri="{FF2B5EF4-FFF2-40B4-BE49-F238E27FC236}">
                <a16:creationId xmlns:a16="http://schemas.microsoft.com/office/drawing/2014/main" id="{BC4DFC5B-64AF-4B87-B6B7-2841B5E89995}"/>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hasCustomPrompt="1"/>
          </p:nvPr>
        </p:nvSpPr>
        <p:spPr>
          <a:xfrm>
            <a:off x="257475" y="134994"/>
            <a:ext cx="10881360" cy="713232"/>
          </a:xfrm>
          <a:prstGeom prst="rect">
            <a:avLst/>
          </a:prstGeom>
          <a:noFill/>
          <a:ln/>
        </p:spPr>
        <p:txBody>
          <a:bodyPr wrap="square" rtlCol="0"/>
          <a:lstStyle/>
          <a:p>
            <a:pPr marL="0" indent="0">
              <a:buNone/>
            </a:pPr>
            <a:r>
              <a:rPr lang="en-US" sz="3600" dirty="0">
                <a:solidFill>
                  <a:schemeClr val="accent6"/>
                </a:solidFill>
              </a:rPr>
              <a:t>Lo que no resuelve y qué compraríamos primero</a:t>
            </a:r>
          </a:p>
        </p:txBody>
      </p:sp>
      <p:sp>
        <p:nvSpPr>
          <p:cNvPr id="3" name="pt-lim"/>
          <p:cNvSpPr/>
          <p:nvPr/>
        </p:nvSpPr>
        <p:spPr>
          <a:xfrm>
            <a:off x="594360" y="1216152"/>
            <a:ext cx="274320" cy="274320"/>
          </a:xfrm>
          <a:prstGeom prst="ellipse">
            <a:avLst/>
          </a:prstGeom>
          <a:solidFill>
            <a:srgbClr val="C77B22"/>
          </a:solidFill>
          <a:ln w="12700">
            <a:solidFill>
              <a:srgbClr val="C77B22"/>
            </a:solidFill>
            <a:prstDash val="solid"/>
          </a:ln>
        </p:spPr>
      </p:sp>
      <p:sp>
        <p:nvSpPr>
          <p:cNvPr id="4" name="h-lim"/>
          <p:cNvSpPr txBox="1"/>
          <p:nvPr/>
        </p:nvSpPr>
        <p:spPr>
          <a:xfrm>
            <a:off x="1005840" y="1188720"/>
            <a:ext cx="4937760" cy="329184"/>
          </a:xfrm>
          <a:prstGeom prst="rect">
            <a:avLst/>
          </a:prstGeom>
          <a:noFill/>
          <a:ln/>
        </p:spPr>
        <p:txBody>
          <a:bodyPr wrap="square" lIns="0" tIns="0" rIns="0" bIns="0" rtlCol="0" anchor="ctr"/>
          <a:lstStyle/>
          <a:p>
            <a:pPr marL="0" indent="0">
              <a:buNone/>
            </a:pPr>
            <a:r>
              <a:rPr lang="en-US" sz="1500" b="1" dirty="0">
                <a:solidFill>
                  <a:srgbClr val="2D3C6E"/>
                </a:solidFill>
              </a:rPr>
              <a:t>Limitaciones reconocidas</a:t>
            </a:r>
            <a:endParaRPr lang="en-US" sz="1500" dirty="0"/>
          </a:p>
        </p:txBody>
      </p:sp>
      <p:sp>
        <p:nvSpPr>
          <p:cNvPr id="5" name="lista-lim"/>
          <p:cNvSpPr txBox="1"/>
          <p:nvPr/>
        </p:nvSpPr>
        <p:spPr>
          <a:xfrm>
            <a:off x="594360" y="1737360"/>
            <a:ext cx="5349240" cy="3657600"/>
          </a:xfrm>
          <a:prstGeom prst="rect">
            <a:avLst/>
          </a:prstGeom>
          <a:noFill/>
          <a:ln/>
        </p:spPr>
        <p:txBody>
          <a:bodyPr wrap="square" lIns="0" tIns="0" rIns="0" bIns="0" rtlCol="0" anchor="ctr"/>
          <a:lstStyle/>
          <a:p>
            <a:pPr marL="342900" indent="-342900">
              <a:spcAft>
                <a:spcPts val="1500"/>
              </a:spcAft>
              <a:buSzPct val="100000"/>
              <a:buChar char="•"/>
            </a:pPr>
            <a:r>
              <a:rPr lang="en-US" sz="1400" dirty="0">
                <a:solidFill>
                  <a:schemeClr val="tx2"/>
                </a:solidFill>
              </a:rPr>
              <a:t>RDS en Single-AZ y sin copias de seguridad automáticas: no hay objetivos de recuperación definidos.</a:t>
            </a:r>
            <a:endParaRPr lang="en-US" sz="1400" dirty="0"/>
          </a:p>
          <a:p>
            <a:pPr marL="342900" indent="-342900">
              <a:spcAft>
                <a:spcPts val="1500"/>
              </a:spcAft>
              <a:buSzPct val="100000"/>
              <a:buChar char="•"/>
            </a:pPr>
            <a:r>
              <a:rPr lang="en-US" sz="1400" dirty="0">
                <a:solidFill>
                  <a:schemeClr val="tx2"/>
                </a:solidFill>
              </a:rPr>
              <a:t>Clúster de un solo nodo: la caída de la instancia deja el tablero inaccesible pese a la orquestación.</a:t>
            </a:r>
            <a:endParaRPr lang="en-US" sz="1400" dirty="0"/>
          </a:p>
          <a:p>
            <a:pPr marL="342900" indent="-342900">
              <a:spcAft>
                <a:spcPts val="1500"/>
              </a:spcAft>
              <a:buSzPct val="100000"/>
              <a:buChar char="•"/>
            </a:pPr>
            <a:r>
              <a:rPr lang="en-US" sz="1400" dirty="0">
                <a:solidFill>
                  <a:schemeClr val="tx2"/>
                </a:solidFill>
              </a:rPr>
              <a:t>Los Secrets de Kubernetes codifican en base64, pero no cifran en reposo sin habilitar el cifrado de etcd.</a:t>
            </a:r>
            <a:endParaRPr lang="en-US" sz="1400" dirty="0"/>
          </a:p>
          <a:p>
            <a:pPr marL="342900" indent="-342900">
              <a:spcAft>
                <a:spcPts val="1500"/>
              </a:spcAft>
              <a:buSzPct val="100000"/>
              <a:buChar char="•"/>
            </a:pPr>
            <a:r>
              <a:rPr lang="en-US" sz="1400" dirty="0">
                <a:solidFill>
                  <a:schemeClr val="tx2"/>
                </a:solidFill>
              </a:rPr>
              <a:t>La Lambda captura sus excepciones pero no las relanza, así que los reintentos automáticos no se activan.</a:t>
            </a:r>
            <a:endParaRPr lang="en-US" sz="1400" dirty="0"/>
          </a:p>
          <a:p>
            <a:pPr marL="342900" indent="-342900">
              <a:buSzPct val="100000"/>
              <a:buChar char="•"/>
            </a:pPr>
            <a:r>
              <a:rPr lang="en-US" sz="1400" dirty="0">
                <a:solidFill>
                  <a:schemeClr val="tx2"/>
                </a:solidFill>
              </a:rPr>
              <a:t>46 registros de una sola extracción: no hay histórico temporal todavía.</a:t>
            </a:r>
            <a:endParaRPr lang="en-US" sz="1400" dirty="0"/>
          </a:p>
        </p:txBody>
      </p:sp>
      <p:sp>
        <p:nvSpPr>
          <p:cNvPr id="6" name="pt-ruta"/>
          <p:cNvSpPr/>
          <p:nvPr/>
        </p:nvSpPr>
        <p:spPr>
          <a:xfrm>
            <a:off x="6126480" y="1216152"/>
            <a:ext cx="274320" cy="274320"/>
          </a:xfrm>
          <a:prstGeom prst="ellipse">
            <a:avLst/>
          </a:prstGeom>
          <a:solidFill>
            <a:srgbClr val="1C7293"/>
          </a:solidFill>
          <a:ln w="12700">
            <a:solidFill>
              <a:srgbClr val="1C7293"/>
            </a:solidFill>
            <a:prstDash val="solid"/>
          </a:ln>
        </p:spPr>
      </p:sp>
      <p:sp>
        <p:nvSpPr>
          <p:cNvPr id="7" name="h-ruta"/>
          <p:cNvSpPr txBox="1"/>
          <p:nvPr/>
        </p:nvSpPr>
        <p:spPr>
          <a:xfrm>
            <a:off x="6537960" y="1188720"/>
            <a:ext cx="4937760" cy="329184"/>
          </a:xfrm>
          <a:prstGeom prst="rect">
            <a:avLst/>
          </a:prstGeom>
          <a:noFill/>
          <a:ln/>
        </p:spPr>
        <p:txBody>
          <a:bodyPr wrap="square" lIns="0" tIns="0" rIns="0" bIns="0" rtlCol="0" anchor="ctr"/>
          <a:lstStyle/>
          <a:p>
            <a:pPr marL="0" indent="0">
              <a:buNone/>
            </a:pPr>
            <a:r>
              <a:rPr lang="en-US" sz="1500" b="1" dirty="0">
                <a:solidFill>
                  <a:srgbClr val="2D3C6E"/>
                </a:solidFill>
              </a:rPr>
              <a:t>Ruta de evolución, por orden de retorno</a:t>
            </a:r>
            <a:endParaRPr lang="en-US" sz="1500" dirty="0"/>
          </a:p>
        </p:txBody>
      </p:sp>
      <p:sp>
        <p:nvSpPr>
          <p:cNvPr id="8" name="r1-c"/>
          <p:cNvSpPr/>
          <p:nvPr/>
        </p:nvSpPr>
        <p:spPr>
          <a:xfrm>
            <a:off x="6126480" y="1792224"/>
            <a:ext cx="329184" cy="329184"/>
          </a:xfrm>
          <a:prstGeom prst="ellipse">
            <a:avLst/>
          </a:prstGeom>
          <a:solidFill>
            <a:srgbClr val="1C7293"/>
          </a:solidFill>
          <a:ln w="12700">
            <a:solidFill>
              <a:srgbClr val="1C7293"/>
            </a:solidFill>
            <a:prstDash val="solid"/>
          </a:ln>
        </p:spPr>
      </p:sp>
      <p:sp>
        <p:nvSpPr>
          <p:cNvPr id="9" name="r1-n"/>
          <p:cNvSpPr txBox="1"/>
          <p:nvPr/>
        </p:nvSpPr>
        <p:spPr>
          <a:xfrm>
            <a:off x="6126480" y="17922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r1-t"/>
          <p:cNvSpPr txBox="1"/>
          <p:nvPr/>
        </p:nvSpPr>
        <p:spPr>
          <a:xfrm>
            <a:off x="6601968" y="1755648"/>
            <a:ext cx="4873752" cy="274320"/>
          </a:xfrm>
          <a:prstGeom prst="rect">
            <a:avLst/>
          </a:prstGeom>
          <a:noFill/>
          <a:ln/>
        </p:spPr>
        <p:txBody>
          <a:bodyPr wrap="square" lIns="0" tIns="0" rIns="0" bIns="0" rtlCol="0" anchor="ctr"/>
          <a:lstStyle/>
          <a:p>
            <a:pPr marL="0" indent="0">
              <a:buNone/>
            </a:pPr>
            <a:r>
              <a:rPr lang="en-US" sz="1250" b="1" dirty="0">
                <a:solidFill>
                  <a:srgbClr val="2D3C6E"/>
                </a:solidFill>
              </a:rPr>
              <a:t>Apagado programado de la EC2</a:t>
            </a:r>
            <a:endParaRPr lang="en-US" sz="1250" dirty="0"/>
          </a:p>
        </p:txBody>
      </p:sp>
      <p:sp>
        <p:nvSpPr>
          <p:cNvPr id="11" name="r1-e"/>
          <p:cNvSpPr txBox="1"/>
          <p:nvPr/>
        </p:nvSpPr>
        <p:spPr>
          <a:xfrm>
            <a:off x="6601968" y="2029968"/>
            <a:ext cx="4873752" cy="256032"/>
          </a:xfrm>
          <a:prstGeom prst="rect">
            <a:avLst/>
          </a:prstGeom>
          <a:noFill/>
          <a:ln/>
        </p:spPr>
        <p:txBody>
          <a:bodyPr wrap="square" lIns="0" tIns="0" rIns="0" bIns="0" rtlCol="0" anchor="ctr"/>
          <a:lstStyle/>
          <a:p>
            <a:pPr marL="0" indent="0">
              <a:buNone/>
            </a:pPr>
            <a:r>
              <a:rPr lang="en-US" sz="1100" dirty="0">
                <a:solidFill>
                  <a:schemeClr val="tx2"/>
                </a:solidFill>
              </a:rPr>
              <a:t>31,97 → 12,58 USD  (−61 %)</a:t>
            </a:r>
            <a:endParaRPr lang="en-US" sz="1100" dirty="0"/>
          </a:p>
        </p:txBody>
      </p:sp>
      <p:sp>
        <p:nvSpPr>
          <p:cNvPr id="12" name="r2-c"/>
          <p:cNvSpPr/>
          <p:nvPr/>
        </p:nvSpPr>
        <p:spPr>
          <a:xfrm>
            <a:off x="6126480" y="2560320"/>
            <a:ext cx="329184" cy="329184"/>
          </a:xfrm>
          <a:prstGeom prst="ellipse">
            <a:avLst/>
          </a:prstGeom>
          <a:solidFill>
            <a:srgbClr val="1C7293"/>
          </a:solidFill>
          <a:ln w="12700">
            <a:solidFill>
              <a:srgbClr val="1C7293"/>
            </a:solidFill>
            <a:prstDash val="solid"/>
          </a:ln>
        </p:spPr>
      </p:sp>
      <p:sp>
        <p:nvSpPr>
          <p:cNvPr id="13" name="r2-n"/>
          <p:cNvSpPr txBox="1"/>
          <p:nvPr/>
        </p:nvSpPr>
        <p:spPr>
          <a:xfrm>
            <a:off x="6126480" y="25603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r2-t"/>
          <p:cNvSpPr txBox="1"/>
          <p:nvPr/>
        </p:nvSpPr>
        <p:spPr>
          <a:xfrm>
            <a:off x="6601968" y="2523744"/>
            <a:ext cx="4873752" cy="274320"/>
          </a:xfrm>
          <a:prstGeom prst="rect">
            <a:avLst/>
          </a:prstGeom>
          <a:noFill/>
          <a:ln/>
        </p:spPr>
        <p:txBody>
          <a:bodyPr wrap="square" lIns="0" tIns="0" rIns="0" bIns="0" rtlCol="0" anchor="ctr"/>
          <a:lstStyle/>
          <a:p>
            <a:pPr marL="0" indent="0">
              <a:buNone/>
            </a:pPr>
            <a:r>
              <a:rPr lang="en-US" sz="1250" b="1" dirty="0">
                <a:solidFill>
                  <a:srgbClr val="2D3C6E"/>
                </a:solidFill>
              </a:rPr>
              <a:t>Grafana Cloud en su nivel gratuito</a:t>
            </a:r>
            <a:endParaRPr lang="en-US" sz="1250" dirty="0"/>
          </a:p>
        </p:txBody>
      </p:sp>
      <p:sp>
        <p:nvSpPr>
          <p:cNvPr id="15" name="r2-e"/>
          <p:cNvSpPr txBox="1"/>
          <p:nvPr/>
        </p:nvSpPr>
        <p:spPr>
          <a:xfrm>
            <a:off x="6601968" y="2798064"/>
            <a:ext cx="4873752" cy="256032"/>
          </a:xfrm>
          <a:prstGeom prst="rect">
            <a:avLst/>
          </a:prstGeom>
          <a:noFill/>
          <a:ln/>
        </p:spPr>
        <p:txBody>
          <a:bodyPr wrap="square" lIns="0" tIns="0" rIns="0" bIns="0" rtlCol="0" anchor="ctr"/>
          <a:lstStyle/>
          <a:p>
            <a:pPr marL="0" indent="0">
              <a:buNone/>
            </a:pPr>
            <a:r>
              <a:rPr lang="en-US" sz="1100" dirty="0">
                <a:solidFill>
                  <a:schemeClr val="tx2"/>
                </a:solidFill>
              </a:rPr>
              <a:t>elimina 31,97 USD</a:t>
            </a:r>
            <a:endParaRPr lang="en-US" sz="1100" dirty="0"/>
          </a:p>
        </p:txBody>
      </p:sp>
      <p:sp>
        <p:nvSpPr>
          <p:cNvPr id="16" name="r3-c"/>
          <p:cNvSpPr/>
          <p:nvPr/>
        </p:nvSpPr>
        <p:spPr>
          <a:xfrm>
            <a:off x="6126480" y="3328416"/>
            <a:ext cx="329184" cy="329184"/>
          </a:xfrm>
          <a:prstGeom prst="ellipse">
            <a:avLst/>
          </a:prstGeom>
          <a:solidFill>
            <a:srgbClr val="4A8FD4"/>
          </a:solidFill>
          <a:ln w="12700">
            <a:solidFill>
              <a:srgbClr val="4A8FD4"/>
            </a:solidFill>
            <a:prstDash val="solid"/>
          </a:ln>
        </p:spPr>
      </p:sp>
      <p:sp>
        <p:nvSpPr>
          <p:cNvPr id="17" name="r3-n"/>
          <p:cNvSpPr txBox="1"/>
          <p:nvPr/>
        </p:nvSpPr>
        <p:spPr>
          <a:xfrm>
            <a:off x="6126480" y="33284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r3-t"/>
          <p:cNvSpPr txBox="1"/>
          <p:nvPr/>
        </p:nvSpPr>
        <p:spPr>
          <a:xfrm>
            <a:off x="6601968" y="3291840"/>
            <a:ext cx="4873752" cy="274320"/>
          </a:xfrm>
          <a:prstGeom prst="rect">
            <a:avLst/>
          </a:prstGeom>
          <a:noFill/>
          <a:ln/>
        </p:spPr>
        <p:txBody>
          <a:bodyPr wrap="square" lIns="0" tIns="0" rIns="0" bIns="0" rtlCol="0" anchor="ctr"/>
          <a:lstStyle/>
          <a:p>
            <a:pPr marL="0" indent="0">
              <a:buNone/>
            </a:pPr>
            <a:r>
              <a:rPr lang="en-US" sz="1250" b="1" dirty="0">
                <a:solidFill>
                  <a:srgbClr val="2D3C6E"/>
                </a:solidFill>
              </a:rPr>
              <a:t>RDS Multi-AZ con backups automáticos</a:t>
            </a:r>
            <a:endParaRPr lang="en-US" sz="1250" dirty="0"/>
          </a:p>
        </p:txBody>
      </p:sp>
      <p:sp>
        <p:nvSpPr>
          <p:cNvPr id="19" name="r3-e"/>
          <p:cNvSpPr txBox="1"/>
          <p:nvPr/>
        </p:nvSpPr>
        <p:spPr>
          <a:xfrm>
            <a:off x="6601968" y="3566160"/>
            <a:ext cx="4873752" cy="256032"/>
          </a:xfrm>
          <a:prstGeom prst="rect">
            <a:avLst/>
          </a:prstGeom>
          <a:noFill/>
          <a:ln/>
        </p:spPr>
        <p:txBody>
          <a:bodyPr wrap="square" lIns="0" tIns="0" rIns="0" bIns="0" rtlCol="0" anchor="ctr"/>
          <a:lstStyle/>
          <a:p>
            <a:pPr marL="0" indent="0">
              <a:buNone/>
            </a:pPr>
            <a:r>
              <a:rPr lang="en-US" sz="1100" dirty="0">
                <a:solidFill>
                  <a:schemeClr val="tx2"/>
                </a:solidFill>
              </a:rPr>
              <a:t>+13,14 USD  (+28 %)</a:t>
            </a:r>
            <a:endParaRPr lang="en-US" sz="1100" dirty="0"/>
          </a:p>
        </p:txBody>
      </p:sp>
      <p:sp>
        <p:nvSpPr>
          <p:cNvPr id="20" name="r4-c"/>
          <p:cNvSpPr/>
          <p:nvPr/>
        </p:nvSpPr>
        <p:spPr>
          <a:xfrm>
            <a:off x="6126480" y="4096512"/>
            <a:ext cx="329184" cy="329184"/>
          </a:xfrm>
          <a:prstGeom prst="ellipse">
            <a:avLst/>
          </a:prstGeom>
          <a:solidFill>
            <a:srgbClr val="4A8FD4"/>
          </a:solidFill>
          <a:ln w="12700">
            <a:solidFill>
              <a:srgbClr val="4A8FD4"/>
            </a:solidFill>
            <a:prstDash val="solid"/>
          </a:ln>
        </p:spPr>
      </p:sp>
      <p:sp>
        <p:nvSpPr>
          <p:cNvPr id="21" name="r4-n"/>
          <p:cNvSpPr txBox="1"/>
          <p:nvPr/>
        </p:nvSpPr>
        <p:spPr>
          <a:xfrm>
            <a:off x="6126480" y="40965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2" name="r4-t"/>
          <p:cNvSpPr txBox="1"/>
          <p:nvPr/>
        </p:nvSpPr>
        <p:spPr>
          <a:xfrm>
            <a:off x="6601968" y="4059936"/>
            <a:ext cx="4873752" cy="274320"/>
          </a:xfrm>
          <a:prstGeom prst="rect">
            <a:avLst/>
          </a:prstGeom>
          <a:noFill/>
          <a:ln/>
        </p:spPr>
        <p:txBody>
          <a:bodyPr wrap="square" lIns="0" tIns="0" rIns="0" bIns="0" rtlCol="0" anchor="ctr"/>
          <a:lstStyle/>
          <a:p>
            <a:pPr marL="0" indent="0">
              <a:buNone/>
            </a:pPr>
            <a:r>
              <a:rPr lang="en-US" sz="1250" b="1" dirty="0">
                <a:solidFill>
                  <a:srgbClr val="2D3C6E"/>
                </a:solidFill>
              </a:rPr>
              <a:t>Secrets Manager con cifrado en reposo</a:t>
            </a:r>
            <a:endParaRPr lang="en-US" sz="1250" dirty="0"/>
          </a:p>
        </p:txBody>
      </p:sp>
      <p:sp>
        <p:nvSpPr>
          <p:cNvPr id="23" name="r4-e"/>
          <p:cNvSpPr txBox="1"/>
          <p:nvPr/>
        </p:nvSpPr>
        <p:spPr>
          <a:xfrm>
            <a:off x="6601968" y="4334256"/>
            <a:ext cx="4873752" cy="256032"/>
          </a:xfrm>
          <a:prstGeom prst="rect">
            <a:avLst/>
          </a:prstGeom>
          <a:noFill/>
          <a:ln/>
        </p:spPr>
        <p:txBody>
          <a:bodyPr wrap="square" lIns="0" tIns="0" rIns="0" bIns="0" rtlCol="0" anchor="ctr"/>
          <a:lstStyle/>
          <a:p>
            <a:pPr marL="0" indent="0">
              <a:buNone/>
            </a:pPr>
            <a:r>
              <a:rPr lang="en-US" sz="1100" dirty="0">
                <a:solidFill>
                  <a:schemeClr val="tx2"/>
                </a:solidFill>
              </a:rPr>
              <a:t>+0,40 USD por secreto</a:t>
            </a:r>
            <a:endParaRPr lang="en-US" sz="1100" dirty="0"/>
          </a:p>
        </p:txBody>
      </p:sp>
      <p:sp>
        <p:nvSpPr>
          <p:cNvPr id="24" name="r5-c"/>
          <p:cNvSpPr/>
          <p:nvPr/>
        </p:nvSpPr>
        <p:spPr>
          <a:xfrm>
            <a:off x="6126480" y="4864608"/>
            <a:ext cx="329184" cy="329184"/>
          </a:xfrm>
          <a:prstGeom prst="ellipse">
            <a:avLst/>
          </a:prstGeom>
          <a:solidFill>
            <a:srgbClr val="C77B22"/>
          </a:solidFill>
          <a:ln w="12700">
            <a:solidFill>
              <a:srgbClr val="C77B22"/>
            </a:solidFill>
            <a:prstDash val="solid"/>
          </a:ln>
        </p:spPr>
      </p:sp>
      <p:sp>
        <p:nvSpPr>
          <p:cNvPr id="25" name="r5-n"/>
          <p:cNvSpPr txBox="1"/>
          <p:nvPr/>
        </p:nvSpPr>
        <p:spPr>
          <a:xfrm>
            <a:off x="6126480" y="4864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6" name="r5-t"/>
          <p:cNvSpPr txBox="1"/>
          <p:nvPr/>
        </p:nvSpPr>
        <p:spPr>
          <a:xfrm>
            <a:off x="6601968" y="4828032"/>
            <a:ext cx="4873752" cy="274320"/>
          </a:xfrm>
          <a:prstGeom prst="rect">
            <a:avLst/>
          </a:prstGeom>
          <a:noFill/>
          <a:ln/>
        </p:spPr>
        <p:txBody>
          <a:bodyPr wrap="square" lIns="0" tIns="0" rIns="0" bIns="0" rtlCol="0" anchor="ctr"/>
          <a:lstStyle/>
          <a:p>
            <a:pPr marL="0" indent="0">
              <a:buNone/>
            </a:pPr>
            <a:r>
              <a:rPr lang="en-US" sz="1250" b="1" dirty="0">
                <a:solidFill>
                  <a:srgbClr val="2D3C6E"/>
                </a:solidFill>
              </a:rPr>
              <a:t>Añadir nodos y migrar a EKS</a:t>
            </a:r>
            <a:endParaRPr lang="en-US" sz="1250" dirty="0"/>
          </a:p>
        </p:txBody>
      </p:sp>
      <p:sp>
        <p:nvSpPr>
          <p:cNvPr id="27" name="r5-e"/>
          <p:cNvSpPr txBox="1"/>
          <p:nvPr/>
        </p:nvSpPr>
        <p:spPr>
          <a:xfrm>
            <a:off x="6601968" y="5102352"/>
            <a:ext cx="4873752" cy="256032"/>
          </a:xfrm>
          <a:prstGeom prst="rect">
            <a:avLst/>
          </a:prstGeom>
          <a:noFill/>
          <a:ln/>
        </p:spPr>
        <p:txBody>
          <a:bodyPr wrap="square" lIns="0" tIns="0" rIns="0" bIns="0" rtlCol="0" anchor="ctr"/>
          <a:lstStyle/>
          <a:p>
            <a:pPr marL="0" indent="0">
              <a:buNone/>
            </a:pPr>
            <a:r>
              <a:rPr lang="en-US" sz="1100" dirty="0">
                <a:solidFill>
                  <a:schemeClr val="tx2"/>
                </a:solidFill>
              </a:rPr>
              <a:t>+73 USD de plano de control</a:t>
            </a:r>
            <a:endParaRPr lang="en-US" sz="1100" dirty="0"/>
          </a:p>
        </p:txBody>
      </p:sp>
      <p:sp>
        <p:nvSpPr>
          <p:cNvPr id="28" name="cierre-lim"/>
          <p:cNvSpPr txBox="1"/>
          <p:nvPr/>
        </p:nvSpPr>
        <p:spPr>
          <a:xfrm>
            <a:off x="594360" y="5623560"/>
            <a:ext cx="10881360" cy="457200"/>
          </a:xfrm>
          <a:prstGeom prst="rect">
            <a:avLst/>
          </a:prstGeom>
          <a:noFill/>
          <a:ln/>
        </p:spPr>
        <p:txBody>
          <a:bodyPr wrap="square" lIns="0" tIns="0" rIns="0" bIns="0" rtlCol="0" anchor="ctr"/>
          <a:lstStyle/>
          <a:p>
            <a:pPr marL="0" indent="0">
              <a:buNone/>
            </a:pPr>
            <a:r>
              <a:rPr lang="en-US" sz="1400" i="1" dirty="0">
                <a:solidFill>
                  <a:srgbClr val="1C7293"/>
                </a:solidFill>
              </a:rPr>
              <a:t>En el estado actual —46 registros, un usuario, consultas esporádicas— solo las dos primeras tienen justificación inmediata.</a:t>
            </a:r>
            <a:endParaRPr lang="en-US" sz="1400" dirty="0"/>
          </a:p>
        </p:txBody>
      </p:sp>
      <p:sp>
        <p:nvSpPr>
          <p:cNvPr id="29" name="Slide Number Placeholder 0"/>
          <p:cNvSpPr>
            <a:spLocks noGrp="1"/>
          </p:cNvSpPr>
          <p:nvPr>
            <p:ph type="sldNum" sz="quarter" idx="4294967295"/>
          </p:nvPr>
        </p:nvSpPr>
        <p:spPr>
          <a:xfrm>
            <a:off x="93268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7AC"/>
                </a:solidFill>
              </a:defRPr>
            </a:lvl1pPr>
          </a:lstStyle>
          <a:p>
            <a:pPr algn="r"/>
            <a:fld id="{F7021451-1387-4CA6-816F-3879F97B5CBC}" type="slidenum">
              <a:rPr lang="en-US" b="0"/>
              <a:t>9</a:t>
            </a:fld>
            <a:endParaRPr lang="en-US"/>
          </a:p>
        </p:txBody>
      </p:sp>
      <p:cxnSp>
        <p:nvCxnSpPr>
          <p:cNvPr id="30" name="Conector recto 29">
            <a:extLst>
              <a:ext uri="{FF2B5EF4-FFF2-40B4-BE49-F238E27FC236}">
                <a16:creationId xmlns:a16="http://schemas.microsoft.com/office/drawing/2014/main" id="{EA87C36D-8D48-4D61-9F3F-EDB009BD8BD5}"/>
              </a:ext>
            </a:extLst>
          </p:cNvPr>
          <p:cNvCxnSpPr/>
          <p:nvPr/>
        </p:nvCxnSpPr>
        <p:spPr>
          <a:xfrm flipV="1">
            <a:off x="165711" y="837398"/>
            <a:ext cx="11966457" cy="73152"/>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ulo-cierre"/>
          <p:cNvSpPr txBox="1"/>
          <p:nvPr/>
        </p:nvSpPr>
        <p:spPr>
          <a:xfrm>
            <a:off x="822960" y="1097280"/>
            <a:ext cx="105156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Un pipeline funcional no exige una arquitectura costosa</a:t>
            </a:r>
            <a:endParaRPr lang="en-US" sz="3400" dirty="0"/>
          </a:p>
        </p:txBody>
      </p:sp>
      <p:sp>
        <p:nvSpPr>
          <p:cNvPr id="3" name="cuerpo-cierre"/>
          <p:cNvSpPr txBox="1"/>
          <p:nvPr/>
        </p:nvSpPr>
        <p:spPr>
          <a:xfrm>
            <a:off x="822960" y="2514600"/>
            <a:ext cx="10515600" cy="1737360"/>
          </a:xfrm>
          <a:prstGeom prst="rect">
            <a:avLst/>
          </a:prstGeom>
          <a:noFill/>
          <a:ln/>
        </p:spPr>
        <p:txBody>
          <a:bodyPr wrap="square" lIns="0" tIns="0" rIns="0" bIns="0" rtlCol="0" anchor="ctr"/>
          <a:lstStyle/>
          <a:p>
            <a:pPr marL="0" indent="0">
              <a:spcAft>
                <a:spcPts val="1400"/>
              </a:spcAft>
              <a:buNone/>
            </a:pPr>
            <a:r>
              <a:rPr lang="en-US" sz="1500" dirty="0">
                <a:solidFill>
                  <a:srgbClr val="CFDCEE"/>
                </a:solidFill>
              </a:rPr>
              <a:t>Las decisiones de mayor impacto no fueron las de mayor sofisticación técnica, sino las de ajuste al problema: cómputo sin servidor para una carga de segundos, JSONB en lugar de tablas adicionales, permisos de solo lectura para la visualización, y orquestación sobre la propia instancia en vez de un plano de control gestionado.</a:t>
            </a:r>
            <a:endParaRPr lang="en-US" sz="1500" dirty="0"/>
          </a:p>
          <a:p>
            <a:pPr marL="0" indent="0">
              <a:buNone/>
            </a:pPr>
            <a:r>
              <a:rPr lang="en-US" sz="1500" dirty="0">
                <a:solidFill>
                  <a:srgbClr val="CFDCEE"/>
                </a:solidFill>
              </a:rPr>
              <a:t>De la API pública al tablero de decisión por menos de 48 USD al mes en operación continua, y prácticamente nada si se apaga el cómputo fuera de uso.</a:t>
            </a:r>
            <a:endParaRPr lang="en-US" sz="1500" dirty="0"/>
          </a:p>
        </p:txBody>
      </p:sp>
      <p:sp>
        <p:nvSpPr>
          <p:cNvPr id="4" name="finops-caja"/>
          <p:cNvSpPr/>
          <p:nvPr/>
        </p:nvSpPr>
        <p:spPr>
          <a:xfrm>
            <a:off x="822960" y="4617720"/>
            <a:ext cx="9006840" cy="1051560"/>
          </a:xfrm>
          <a:prstGeom prst="roundRect">
            <a:avLst>
              <a:gd name="adj" fmla="val 6957"/>
            </a:avLst>
          </a:prstGeom>
          <a:solidFill>
            <a:srgbClr val="25375F"/>
          </a:solidFill>
          <a:ln w="9525">
            <a:solidFill>
              <a:srgbClr val="3A4F7E"/>
            </a:solidFill>
            <a:prstDash val="solid"/>
          </a:ln>
        </p:spPr>
      </p:sp>
      <p:sp>
        <p:nvSpPr>
          <p:cNvPr id="5" name="finops-punto"/>
          <p:cNvSpPr/>
          <p:nvPr/>
        </p:nvSpPr>
        <p:spPr>
          <a:xfrm>
            <a:off x="1143000" y="4937760"/>
            <a:ext cx="274320" cy="274320"/>
          </a:xfrm>
          <a:prstGeom prst="ellipse">
            <a:avLst/>
          </a:prstGeom>
          <a:solidFill>
            <a:srgbClr val="C77B22"/>
          </a:solidFill>
          <a:ln w="12700">
            <a:solidFill>
              <a:srgbClr val="C77B22"/>
            </a:solidFill>
            <a:prstDash val="solid"/>
          </a:ln>
        </p:spPr>
      </p:sp>
      <p:sp>
        <p:nvSpPr>
          <p:cNvPr id="6" name="finops-txt"/>
          <p:cNvSpPr txBox="1"/>
          <p:nvPr/>
        </p:nvSpPr>
        <p:spPr>
          <a:xfrm>
            <a:off x="1572768" y="4754880"/>
            <a:ext cx="7955280" cy="777240"/>
          </a:xfrm>
          <a:prstGeom prst="rect">
            <a:avLst/>
          </a:prstGeom>
          <a:noFill/>
          <a:ln/>
        </p:spPr>
        <p:txBody>
          <a:bodyPr wrap="square" lIns="0" tIns="0" rIns="0" bIns="0" rtlCol="0" anchor="ctr"/>
          <a:lstStyle/>
          <a:p>
            <a:pPr marL="0" indent="0">
              <a:buNone/>
            </a:pPr>
            <a:r>
              <a:rPr lang="en-US" sz="1300" dirty="0">
                <a:solidFill>
                  <a:srgbClr val="C3D2E8"/>
                </a:solidFill>
              </a:rPr>
              <a:t>Gobernanza FinOps: al cerrar la sesión se terminó la instancia EC2 y se eliminó la base RDS sin instantánea final. La evidencia de ambas terminaciones está en la sección 8 del informe.</a:t>
            </a:r>
            <a:endParaRPr lang="en-US" sz="1300" dirty="0"/>
          </a:p>
        </p:txBody>
      </p:sp>
    </p:spTree>
  </p:cSld>
  <p:clrMapOvr>
    <a:masterClrMapping/>
  </p:clrMapOvr>
</p:sld>
</file>

<file path=ppt/theme/theme1.xml><?xml version="1.0" encoding="utf-8"?>
<a:theme xmlns:a="http://schemas.openxmlformats.org/drawingml/2006/main" name="La Sabana - Proyecto Integrador">
  <a:themeElements>
    <a:clrScheme name="La Sabana - Proyecto Integrador">
      <a:dk1>
        <a:srgbClr val="101C34"/>
      </a:dk1>
      <a:lt1>
        <a:srgbClr val="FFFFFF"/>
      </a:lt1>
      <a:dk2>
        <a:srgbClr val="4A5A78"/>
      </a:dk2>
      <a:lt2>
        <a:srgbClr val="EDF1F8"/>
      </a:lt2>
      <a:accent1>
        <a:srgbClr val="2D3C6E"/>
      </a:accent1>
      <a:accent2>
        <a:srgbClr val="1C7293"/>
      </a:accent2>
      <a:accent3>
        <a:srgbClr val="4A8FD4"/>
      </a:accent3>
      <a:accent4>
        <a:srgbClr val="7A8CA8"/>
      </a:accent4>
      <a:accent5>
        <a:srgbClr val="C77B22"/>
      </a:accent5>
      <a:accent6>
        <a:srgbClr val="0E5C6B"/>
      </a:accent6>
      <a:hlink>
        <a:srgbClr val="2D3C6E"/>
      </a:hlink>
      <a:folHlink>
        <a:srgbClr val="1C7293"/>
      </a:folHlink>
    </a:clrScheme>
    <a:fontScheme name="La Sabana - Proyecto Integrad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2633</Words>
  <Application>Microsoft Office PowerPoint</Application>
  <PresentationFormat>Panorámica</PresentationFormat>
  <Paragraphs>149</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La Sabana - Proyecto Integrador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de datos en la nube - Cafeterias de Teusaquillo</dc:title>
  <dc:subject>PptxGenJS Presentation</dc:subject>
  <dc:creator>Efren Alexander Granados Latorre</dc:creator>
  <cp:lastModifiedBy>Alexander Granados Latorre</cp:lastModifiedBy>
  <cp:revision>7</cp:revision>
  <dcterms:created xsi:type="dcterms:W3CDTF">2026-10-17T19:31:55Z</dcterms:created>
  <dcterms:modified xsi:type="dcterms:W3CDTF">2026-10-17T20:15:44Z</dcterms:modified>
</cp:coreProperties>
</file>